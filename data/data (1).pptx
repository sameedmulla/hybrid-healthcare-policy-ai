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70" r:id="rId2"/>
    <p:sldId id="272" r:id="rId3"/>
    <p:sldId id="256" r:id="rId4"/>
    <p:sldId id="285" r:id="rId5"/>
    <p:sldId id="291" r:id="rId6"/>
    <p:sldId id="281" r:id="rId7"/>
    <p:sldId id="298" r:id="rId8"/>
    <p:sldId id="301" r:id="rId9"/>
    <p:sldId id="302" r:id="rId10"/>
    <p:sldId id="286" r:id="rId11"/>
    <p:sldId id="274" r:id="rId12"/>
    <p:sldId id="289" r:id="rId13"/>
    <p:sldId id="258" r:id="rId14"/>
    <p:sldId id="257" r:id="rId15"/>
    <p:sldId id="303" r:id="rId16"/>
    <p:sldId id="304" r:id="rId17"/>
    <p:sldId id="300" r:id="rId18"/>
    <p:sldId id="265" r:id="rId19"/>
    <p:sldId id="266" r:id="rId20"/>
    <p:sldId id="288" r:id="rId21"/>
    <p:sldId id="295" r:id="rId22"/>
    <p:sldId id="311" r:id="rId23"/>
    <p:sldId id="296" r:id="rId24"/>
    <p:sldId id="310" r:id="rId25"/>
    <p:sldId id="297" r:id="rId26"/>
    <p:sldId id="299" r:id="rId27"/>
    <p:sldId id="305" r:id="rId28"/>
    <p:sldId id="279" r:id="rId29"/>
    <p:sldId id="315" r:id="rId30"/>
    <p:sldId id="316" r:id="rId31"/>
    <p:sldId id="283" r:id="rId32"/>
    <p:sldId id="284" r:id="rId33"/>
    <p:sldId id="308" r:id="rId34"/>
    <p:sldId id="306" r:id="rId35"/>
    <p:sldId id="309" r:id="rId36"/>
    <p:sldId id="307" r:id="rId37"/>
    <p:sldId id="280" r:id="rId38"/>
    <p:sldId id="277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8043" autoAdjust="0"/>
  </p:normalViewPr>
  <p:slideViewPr>
    <p:cSldViewPr>
      <p:cViewPr>
        <p:scale>
          <a:sx n="70" d="100"/>
          <a:sy n="70" d="100"/>
        </p:scale>
        <p:origin x="-1386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3030BD-9931-4D06-BEA8-5C3704D17B2D}" type="doc">
      <dgm:prSet loTypeId="urn:microsoft.com/office/officeart/2005/8/layout/cycle3" loCatId="cycle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DF3B96A-DEFE-40D3-A492-A15AEE617FF0}">
      <dgm:prSet/>
      <dgm:spPr/>
      <dgm:t>
        <a:bodyPr/>
        <a:lstStyle/>
        <a:p>
          <a:r>
            <a:rPr lang="en-US"/>
            <a:t>Extensive Literature Survey</a:t>
          </a:r>
        </a:p>
      </dgm:t>
    </dgm:pt>
    <dgm:pt modelId="{FDDD47A3-ACE3-4BBE-BF1C-47D7471ECA17}" type="parTrans" cxnId="{47DD93F8-9604-406D-9871-60945CD5A0FA}">
      <dgm:prSet/>
      <dgm:spPr/>
      <dgm:t>
        <a:bodyPr/>
        <a:lstStyle/>
        <a:p>
          <a:endParaRPr lang="en-US"/>
        </a:p>
      </dgm:t>
    </dgm:pt>
    <dgm:pt modelId="{9DF95587-E90E-476C-8CED-0714B00842B3}" type="sibTrans" cxnId="{47DD93F8-9604-406D-9871-60945CD5A0FA}">
      <dgm:prSet/>
      <dgm:spPr/>
      <dgm:t>
        <a:bodyPr/>
        <a:lstStyle/>
        <a:p>
          <a:endParaRPr lang="en-US"/>
        </a:p>
      </dgm:t>
    </dgm:pt>
    <dgm:pt modelId="{F34706E9-4434-47B1-B158-33F30F94AA0D}">
      <dgm:prSet/>
      <dgm:spPr/>
      <dgm:t>
        <a:bodyPr/>
        <a:lstStyle/>
        <a:p>
          <a:r>
            <a:rPr lang="en-US"/>
            <a:t>Data aggregation</a:t>
          </a:r>
        </a:p>
      </dgm:t>
    </dgm:pt>
    <dgm:pt modelId="{71B65B55-DCEF-4A72-86D6-564E9633D256}" type="parTrans" cxnId="{C4CFCFAB-9ED2-48E3-BE3C-F5D14012CC25}">
      <dgm:prSet/>
      <dgm:spPr/>
      <dgm:t>
        <a:bodyPr/>
        <a:lstStyle/>
        <a:p>
          <a:endParaRPr lang="en-US"/>
        </a:p>
      </dgm:t>
    </dgm:pt>
    <dgm:pt modelId="{7F2163ED-595F-49C2-A109-BE9E12997BDA}" type="sibTrans" cxnId="{C4CFCFAB-9ED2-48E3-BE3C-F5D14012CC25}">
      <dgm:prSet/>
      <dgm:spPr/>
      <dgm:t>
        <a:bodyPr/>
        <a:lstStyle/>
        <a:p>
          <a:endParaRPr lang="en-US"/>
        </a:p>
      </dgm:t>
    </dgm:pt>
    <dgm:pt modelId="{7C7EBA90-B857-429B-A6FE-16D62F14EC16}">
      <dgm:prSet/>
      <dgm:spPr/>
      <dgm:t>
        <a:bodyPr/>
        <a:lstStyle/>
        <a:p>
          <a:r>
            <a:rPr lang="en-US"/>
            <a:t>Model algorithm creation </a:t>
          </a:r>
        </a:p>
      </dgm:t>
    </dgm:pt>
    <dgm:pt modelId="{26E2892F-F969-4AC4-A9B9-9CA2C4E89AFC}" type="parTrans" cxnId="{B551DD49-1549-4E22-A824-46789E8AE5DB}">
      <dgm:prSet/>
      <dgm:spPr/>
      <dgm:t>
        <a:bodyPr/>
        <a:lstStyle/>
        <a:p>
          <a:endParaRPr lang="en-US"/>
        </a:p>
      </dgm:t>
    </dgm:pt>
    <dgm:pt modelId="{6075458A-99F9-440A-BE72-FC6714F47A38}" type="sibTrans" cxnId="{B551DD49-1549-4E22-A824-46789E8AE5DB}">
      <dgm:prSet/>
      <dgm:spPr/>
      <dgm:t>
        <a:bodyPr/>
        <a:lstStyle/>
        <a:p>
          <a:endParaRPr lang="en-US"/>
        </a:p>
      </dgm:t>
    </dgm:pt>
    <dgm:pt modelId="{CECBB959-11AB-4A09-9F74-BE9ED2ABAF18}">
      <dgm:prSet/>
      <dgm:spPr/>
      <dgm:t>
        <a:bodyPr/>
        <a:lstStyle/>
        <a:p>
          <a:r>
            <a:rPr lang="en-US"/>
            <a:t>Pre-processing phase</a:t>
          </a:r>
        </a:p>
      </dgm:t>
    </dgm:pt>
    <dgm:pt modelId="{7295D8A9-16DA-47B9-98D7-0F47F021D6FD}" type="parTrans" cxnId="{630F129E-C61A-4BCB-A05F-FF30D2E7F73A}">
      <dgm:prSet/>
      <dgm:spPr/>
      <dgm:t>
        <a:bodyPr/>
        <a:lstStyle/>
        <a:p>
          <a:endParaRPr lang="en-US"/>
        </a:p>
      </dgm:t>
    </dgm:pt>
    <dgm:pt modelId="{F44181BD-8DDB-491A-920B-A8FA272BA522}" type="sibTrans" cxnId="{630F129E-C61A-4BCB-A05F-FF30D2E7F73A}">
      <dgm:prSet/>
      <dgm:spPr/>
      <dgm:t>
        <a:bodyPr/>
        <a:lstStyle/>
        <a:p>
          <a:endParaRPr lang="en-US"/>
        </a:p>
      </dgm:t>
    </dgm:pt>
    <dgm:pt modelId="{5C7A05CF-14AA-423F-9749-69C061ECC19F}">
      <dgm:prSet/>
      <dgm:spPr/>
      <dgm:t>
        <a:bodyPr/>
        <a:lstStyle/>
        <a:p>
          <a:r>
            <a:rPr lang="en-US"/>
            <a:t>Data preprocessing</a:t>
          </a:r>
        </a:p>
      </dgm:t>
    </dgm:pt>
    <dgm:pt modelId="{43D88DB7-4970-4ED3-BD9D-A1DA90ABBD48}" type="parTrans" cxnId="{55CA3CCA-2D60-448D-8F18-A878EBAB192C}">
      <dgm:prSet/>
      <dgm:spPr/>
      <dgm:t>
        <a:bodyPr/>
        <a:lstStyle/>
        <a:p>
          <a:endParaRPr lang="en-US"/>
        </a:p>
      </dgm:t>
    </dgm:pt>
    <dgm:pt modelId="{40C77673-B846-4FF9-91F0-D54A10DD417F}" type="sibTrans" cxnId="{55CA3CCA-2D60-448D-8F18-A878EBAB192C}">
      <dgm:prSet/>
      <dgm:spPr/>
      <dgm:t>
        <a:bodyPr/>
        <a:lstStyle/>
        <a:p>
          <a:endParaRPr lang="en-US"/>
        </a:p>
      </dgm:t>
    </dgm:pt>
    <dgm:pt modelId="{0F669B6D-E54C-4ED9-8953-721A790BF47F}">
      <dgm:prSet/>
      <dgm:spPr/>
      <dgm:t>
        <a:bodyPr/>
        <a:lstStyle/>
        <a:p>
          <a:r>
            <a:rPr lang="en-US"/>
            <a:t>Coding</a:t>
          </a:r>
        </a:p>
      </dgm:t>
    </dgm:pt>
    <dgm:pt modelId="{B144C452-0E86-4F07-B011-0240E2884670}" type="parTrans" cxnId="{50966263-9A22-4373-919C-26C0D13CB0DB}">
      <dgm:prSet/>
      <dgm:spPr/>
      <dgm:t>
        <a:bodyPr/>
        <a:lstStyle/>
        <a:p>
          <a:endParaRPr lang="en-US"/>
        </a:p>
      </dgm:t>
    </dgm:pt>
    <dgm:pt modelId="{D432CAA7-0B48-4374-9772-8B207C017CA3}" type="sibTrans" cxnId="{50966263-9A22-4373-919C-26C0D13CB0DB}">
      <dgm:prSet/>
      <dgm:spPr/>
      <dgm:t>
        <a:bodyPr/>
        <a:lstStyle/>
        <a:p>
          <a:endParaRPr lang="en-US"/>
        </a:p>
      </dgm:t>
    </dgm:pt>
    <dgm:pt modelId="{FED71C97-D8A7-4133-8622-34095DEF1EDA}">
      <dgm:prSet/>
      <dgm:spPr/>
      <dgm:t>
        <a:bodyPr/>
        <a:lstStyle/>
        <a:p>
          <a:r>
            <a:rPr lang="en-US"/>
            <a:t>Validation</a:t>
          </a:r>
        </a:p>
      </dgm:t>
    </dgm:pt>
    <dgm:pt modelId="{C72B58A2-B5D1-48D6-B257-4C76A167FCD4}" type="parTrans" cxnId="{C6B99099-33DC-405B-BB03-10B84814DB7D}">
      <dgm:prSet/>
      <dgm:spPr/>
      <dgm:t>
        <a:bodyPr/>
        <a:lstStyle/>
        <a:p>
          <a:endParaRPr lang="en-US"/>
        </a:p>
      </dgm:t>
    </dgm:pt>
    <dgm:pt modelId="{D9434F12-917C-4277-B9B8-6ACB0ADB78AE}" type="sibTrans" cxnId="{C6B99099-33DC-405B-BB03-10B84814DB7D}">
      <dgm:prSet/>
      <dgm:spPr/>
      <dgm:t>
        <a:bodyPr/>
        <a:lstStyle/>
        <a:p>
          <a:endParaRPr lang="en-US"/>
        </a:p>
      </dgm:t>
    </dgm:pt>
    <dgm:pt modelId="{D3A33FDA-584E-44D6-87D6-768CE9032B28}">
      <dgm:prSet/>
      <dgm:spPr/>
      <dgm:t>
        <a:bodyPr/>
        <a:lstStyle/>
        <a:p>
          <a:r>
            <a:rPr lang="en-US"/>
            <a:t>Statistical Analysis</a:t>
          </a:r>
        </a:p>
      </dgm:t>
    </dgm:pt>
    <dgm:pt modelId="{8DC15940-3583-45E5-9A60-DE6C0299F7CF}" type="parTrans" cxnId="{156BD594-EFE5-43BF-B9E6-183692A568D5}">
      <dgm:prSet/>
      <dgm:spPr/>
      <dgm:t>
        <a:bodyPr/>
        <a:lstStyle/>
        <a:p>
          <a:endParaRPr lang="en-US"/>
        </a:p>
      </dgm:t>
    </dgm:pt>
    <dgm:pt modelId="{51A09CB7-547D-4BDB-A75A-DD05471D5897}" type="sibTrans" cxnId="{156BD594-EFE5-43BF-B9E6-183692A568D5}">
      <dgm:prSet/>
      <dgm:spPr/>
      <dgm:t>
        <a:bodyPr/>
        <a:lstStyle/>
        <a:p>
          <a:endParaRPr lang="en-US"/>
        </a:p>
      </dgm:t>
    </dgm:pt>
    <dgm:pt modelId="{311DACA1-47CB-435F-AD23-89DDD2C7D22E}">
      <dgm:prSet/>
      <dgm:spPr/>
      <dgm:t>
        <a:bodyPr/>
        <a:lstStyle/>
        <a:p>
          <a:r>
            <a:rPr lang="en-US"/>
            <a:t>Simulation of a model</a:t>
          </a:r>
        </a:p>
      </dgm:t>
    </dgm:pt>
    <dgm:pt modelId="{C6627A06-5D18-4B79-9584-7C9EF81EE3B1}" type="parTrans" cxnId="{E79A99C6-CA32-4AE6-9F4B-08847B3CCE80}">
      <dgm:prSet/>
      <dgm:spPr/>
      <dgm:t>
        <a:bodyPr/>
        <a:lstStyle/>
        <a:p>
          <a:endParaRPr lang="en-US"/>
        </a:p>
      </dgm:t>
    </dgm:pt>
    <dgm:pt modelId="{DD4C8C8C-4937-4AD6-9D88-455E8D25B731}" type="sibTrans" cxnId="{E79A99C6-CA32-4AE6-9F4B-08847B3CCE80}">
      <dgm:prSet/>
      <dgm:spPr/>
      <dgm:t>
        <a:bodyPr/>
        <a:lstStyle/>
        <a:p>
          <a:endParaRPr lang="en-US"/>
        </a:p>
      </dgm:t>
    </dgm:pt>
    <dgm:pt modelId="{155EB869-F37C-4C81-8DC7-71030CDE44DE}" type="pres">
      <dgm:prSet presAssocID="{633030BD-9931-4D06-BEA8-5C3704D17B2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9BA9C7-4C38-4D3B-8EC6-478577397A72}" type="pres">
      <dgm:prSet presAssocID="{633030BD-9931-4D06-BEA8-5C3704D17B2D}" presName="cycle" presStyleCnt="0"/>
      <dgm:spPr/>
    </dgm:pt>
    <dgm:pt modelId="{123DE628-0FE8-4E6C-A403-91414DBD9E87}" type="pres">
      <dgm:prSet presAssocID="{9DF3B96A-DEFE-40D3-A492-A15AEE617FF0}" presName="nodeFirst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FC3DE7-0AFB-47E5-8571-770E34B379EE}" type="pres">
      <dgm:prSet presAssocID="{9DF95587-E90E-476C-8CED-0714B00842B3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B087D3D8-9770-40AE-AD98-BBA66C1990E0}" type="pres">
      <dgm:prSet presAssocID="{F34706E9-4434-47B1-B158-33F30F94AA0D}" presName="nodeFollowingNodes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2A1461-54C0-4D9A-84DC-B77F32B5EEF9}" type="pres">
      <dgm:prSet presAssocID="{7C7EBA90-B857-429B-A6FE-16D62F14EC16}" presName="nodeFollowingNodes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270063-24BB-4A5C-8ADB-9AC35B26AFAF}" type="pres">
      <dgm:prSet presAssocID="{CECBB959-11AB-4A09-9F74-BE9ED2ABAF18}" presName="nodeFollowingNodes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1A6ED-52D0-481C-9004-10BC321E4F8C}" type="pres">
      <dgm:prSet presAssocID="{5C7A05CF-14AA-423F-9749-69C061ECC19F}" presName="nodeFollowingNodes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A99D2D-E630-43AA-BD41-E01396E38198}" type="pres">
      <dgm:prSet presAssocID="{0F669B6D-E54C-4ED9-8953-721A790BF47F}" presName="nodeFollowingNodes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D13C5B-1EF4-4114-8118-97F17CDCE02F}" type="pres">
      <dgm:prSet presAssocID="{FED71C97-D8A7-4133-8622-34095DEF1EDA}" presName="nodeFollowingNodes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A64493-AC09-40A1-A0FF-9028B8A41448}" type="pres">
      <dgm:prSet presAssocID="{D3A33FDA-584E-44D6-87D6-768CE9032B28}" presName="nodeFollowingNodes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BBF32A-69F6-4CBE-897F-13E46AAC172F}" type="pres">
      <dgm:prSet presAssocID="{311DACA1-47CB-435F-AD23-89DDD2C7D22E}" presName="nodeFollowingNodes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51DD49-1549-4E22-A824-46789E8AE5DB}" srcId="{633030BD-9931-4D06-BEA8-5C3704D17B2D}" destId="{7C7EBA90-B857-429B-A6FE-16D62F14EC16}" srcOrd="2" destOrd="0" parTransId="{26E2892F-F969-4AC4-A9B9-9CA2C4E89AFC}" sibTransId="{6075458A-99F9-440A-BE72-FC6714F47A38}"/>
    <dgm:cxn modelId="{50966263-9A22-4373-919C-26C0D13CB0DB}" srcId="{633030BD-9931-4D06-BEA8-5C3704D17B2D}" destId="{0F669B6D-E54C-4ED9-8953-721A790BF47F}" srcOrd="5" destOrd="0" parTransId="{B144C452-0E86-4F07-B011-0240E2884670}" sibTransId="{D432CAA7-0B48-4374-9772-8B207C017CA3}"/>
    <dgm:cxn modelId="{630F129E-C61A-4BCB-A05F-FF30D2E7F73A}" srcId="{633030BD-9931-4D06-BEA8-5C3704D17B2D}" destId="{CECBB959-11AB-4A09-9F74-BE9ED2ABAF18}" srcOrd="3" destOrd="0" parTransId="{7295D8A9-16DA-47B9-98D7-0F47F021D6FD}" sibTransId="{F44181BD-8DDB-491A-920B-A8FA272BA522}"/>
    <dgm:cxn modelId="{51586CDC-BE2A-4E2C-BD67-A379F9C8F7FF}" type="presOf" srcId="{311DACA1-47CB-435F-AD23-89DDD2C7D22E}" destId="{F4BBF32A-69F6-4CBE-897F-13E46AAC172F}" srcOrd="0" destOrd="0" presId="urn:microsoft.com/office/officeart/2005/8/layout/cycle3"/>
    <dgm:cxn modelId="{E66C53FF-5BF9-480E-B4FF-8E0E28E8F89F}" type="presOf" srcId="{0F669B6D-E54C-4ED9-8953-721A790BF47F}" destId="{36A99D2D-E630-43AA-BD41-E01396E38198}" srcOrd="0" destOrd="0" presId="urn:microsoft.com/office/officeart/2005/8/layout/cycle3"/>
    <dgm:cxn modelId="{55CA3CCA-2D60-448D-8F18-A878EBAB192C}" srcId="{633030BD-9931-4D06-BEA8-5C3704D17B2D}" destId="{5C7A05CF-14AA-423F-9749-69C061ECC19F}" srcOrd="4" destOrd="0" parTransId="{43D88DB7-4970-4ED3-BD9D-A1DA90ABBD48}" sibTransId="{40C77673-B846-4FF9-91F0-D54A10DD417F}"/>
    <dgm:cxn modelId="{156BD594-EFE5-43BF-B9E6-183692A568D5}" srcId="{633030BD-9931-4D06-BEA8-5C3704D17B2D}" destId="{D3A33FDA-584E-44D6-87D6-768CE9032B28}" srcOrd="7" destOrd="0" parTransId="{8DC15940-3583-45E5-9A60-DE6C0299F7CF}" sibTransId="{51A09CB7-547D-4BDB-A75A-DD05471D5897}"/>
    <dgm:cxn modelId="{6DE1E4EC-D930-4FE8-B54E-38B317BB7664}" type="presOf" srcId="{9DF3B96A-DEFE-40D3-A492-A15AEE617FF0}" destId="{123DE628-0FE8-4E6C-A403-91414DBD9E87}" srcOrd="0" destOrd="0" presId="urn:microsoft.com/office/officeart/2005/8/layout/cycle3"/>
    <dgm:cxn modelId="{44FCE12A-D6D1-4622-9F84-61919149502E}" type="presOf" srcId="{7C7EBA90-B857-429B-A6FE-16D62F14EC16}" destId="{FC2A1461-54C0-4D9A-84DC-B77F32B5EEF9}" srcOrd="0" destOrd="0" presId="urn:microsoft.com/office/officeart/2005/8/layout/cycle3"/>
    <dgm:cxn modelId="{C4CFCFAB-9ED2-48E3-BE3C-F5D14012CC25}" srcId="{633030BD-9931-4D06-BEA8-5C3704D17B2D}" destId="{F34706E9-4434-47B1-B158-33F30F94AA0D}" srcOrd="1" destOrd="0" parTransId="{71B65B55-DCEF-4A72-86D6-564E9633D256}" sibTransId="{7F2163ED-595F-49C2-A109-BE9E12997BDA}"/>
    <dgm:cxn modelId="{29ED3C4D-478E-4BC9-960E-DEB3ED6208B5}" type="presOf" srcId="{5C7A05CF-14AA-423F-9749-69C061ECC19F}" destId="{96A1A6ED-52D0-481C-9004-10BC321E4F8C}" srcOrd="0" destOrd="0" presId="urn:microsoft.com/office/officeart/2005/8/layout/cycle3"/>
    <dgm:cxn modelId="{15D56DE9-4201-424A-B99D-E0900AAC0999}" type="presOf" srcId="{D3A33FDA-584E-44D6-87D6-768CE9032B28}" destId="{70A64493-AC09-40A1-A0FF-9028B8A41448}" srcOrd="0" destOrd="0" presId="urn:microsoft.com/office/officeart/2005/8/layout/cycle3"/>
    <dgm:cxn modelId="{C99B5426-BD33-4425-B495-4DDE496DFE72}" type="presOf" srcId="{F34706E9-4434-47B1-B158-33F30F94AA0D}" destId="{B087D3D8-9770-40AE-AD98-BBA66C1990E0}" srcOrd="0" destOrd="0" presId="urn:microsoft.com/office/officeart/2005/8/layout/cycle3"/>
    <dgm:cxn modelId="{93C05E3B-0C61-4F7D-BB14-809A13299988}" type="presOf" srcId="{FED71C97-D8A7-4133-8622-34095DEF1EDA}" destId="{1DD13C5B-1EF4-4114-8118-97F17CDCE02F}" srcOrd="0" destOrd="0" presId="urn:microsoft.com/office/officeart/2005/8/layout/cycle3"/>
    <dgm:cxn modelId="{32E3142F-8A41-43C0-B174-32492FD13458}" type="presOf" srcId="{CECBB959-11AB-4A09-9F74-BE9ED2ABAF18}" destId="{7A270063-24BB-4A5C-8ADB-9AC35B26AFAF}" srcOrd="0" destOrd="0" presId="urn:microsoft.com/office/officeart/2005/8/layout/cycle3"/>
    <dgm:cxn modelId="{C6B99099-33DC-405B-BB03-10B84814DB7D}" srcId="{633030BD-9931-4D06-BEA8-5C3704D17B2D}" destId="{FED71C97-D8A7-4133-8622-34095DEF1EDA}" srcOrd="6" destOrd="0" parTransId="{C72B58A2-B5D1-48D6-B257-4C76A167FCD4}" sibTransId="{D9434F12-917C-4277-B9B8-6ACB0ADB78AE}"/>
    <dgm:cxn modelId="{E79A99C6-CA32-4AE6-9F4B-08847B3CCE80}" srcId="{633030BD-9931-4D06-BEA8-5C3704D17B2D}" destId="{311DACA1-47CB-435F-AD23-89DDD2C7D22E}" srcOrd="8" destOrd="0" parTransId="{C6627A06-5D18-4B79-9584-7C9EF81EE3B1}" sibTransId="{DD4C8C8C-4937-4AD6-9D88-455E8D25B731}"/>
    <dgm:cxn modelId="{B276281E-A87C-41ED-B7DD-3A12D53EB3CE}" type="presOf" srcId="{9DF95587-E90E-476C-8CED-0714B00842B3}" destId="{1DFC3DE7-0AFB-47E5-8571-770E34B379EE}" srcOrd="0" destOrd="0" presId="urn:microsoft.com/office/officeart/2005/8/layout/cycle3"/>
    <dgm:cxn modelId="{47DD93F8-9604-406D-9871-60945CD5A0FA}" srcId="{633030BD-9931-4D06-BEA8-5C3704D17B2D}" destId="{9DF3B96A-DEFE-40D3-A492-A15AEE617FF0}" srcOrd="0" destOrd="0" parTransId="{FDDD47A3-ACE3-4BBE-BF1C-47D7471ECA17}" sibTransId="{9DF95587-E90E-476C-8CED-0714B00842B3}"/>
    <dgm:cxn modelId="{B38DE052-F795-4F48-8DCA-1538B39E4697}" type="presOf" srcId="{633030BD-9931-4D06-BEA8-5C3704D17B2D}" destId="{155EB869-F37C-4C81-8DC7-71030CDE44DE}" srcOrd="0" destOrd="0" presId="urn:microsoft.com/office/officeart/2005/8/layout/cycle3"/>
    <dgm:cxn modelId="{5FF14A5D-41DA-454D-BD00-88B3E57E18A6}" type="presParOf" srcId="{155EB869-F37C-4C81-8DC7-71030CDE44DE}" destId="{E79BA9C7-4C38-4D3B-8EC6-478577397A72}" srcOrd="0" destOrd="0" presId="urn:microsoft.com/office/officeart/2005/8/layout/cycle3"/>
    <dgm:cxn modelId="{CDC505C1-A62C-4359-9A7F-BE9591E488B5}" type="presParOf" srcId="{E79BA9C7-4C38-4D3B-8EC6-478577397A72}" destId="{123DE628-0FE8-4E6C-A403-91414DBD9E87}" srcOrd="0" destOrd="0" presId="urn:microsoft.com/office/officeart/2005/8/layout/cycle3"/>
    <dgm:cxn modelId="{4E0D842B-9018-4F03-AA2C-34FABD468FE3}" type="presParOf" srcId="{E79BA9C7-4C38-4D3B-8EC6-478577397A72}" destId="{1DFC3DE7-0AFB-47E5-8571-770E34B379EE}" srcOrd="1" destOrd="0" presId="urn:microsoft.com/office/officeart/2005/8/layout/cycle3"/>
    <dgm:cxn modelId="{ACFF4CB2-71B4-4F0D-BE1D-1FFB37322B2A}" type="presParOf" srcId="{E79BA9C7-4C38-4D3B-8EC6-478577397A72}" destId="{B087D3D8-9770-40AE-AD98-BBA66C1990E0}" srcOrd="2" destOrd="0" presId="urn:microsoft.com/office/officeart/2005/8/layout/cycle3"/>
    <dgm:cxn modelId="{2D70CC9C-6C02-4050-8E29-98752C67FA6B}" type="presParOf" srcId="{E79BA9C7-4C38-4D3B-8EC6-478577397A72}" destId="{FC2A1461-54C0-4D9A-84DC-B77F32B5EEF9}" srcOrd="3" destOrd="0" presId="urn:microsoft.com/office/officeart/2005/8/layout/cycle3"/>
    <dgm:cxn modelId="{4E30C667-5D22-44AB-A733-DA4A5AA4AB50}" type="presParOf" srcId="{E79BA9C7-4C38-4D3B-8EC6-478577397A72}" destId="{7A270063-24BB-4A5C-8ADB-9AC35B26AFAF}" srcOrd="4" destOrd="0" presId="urn:microsoft.com/office/officeart/2005/8/layout/cycle3"/>
    <dgm:cxn modelId="{4D88D793-184A-45E2-B330-7EC2AC248C8F}" type="presParOf" srcId="{E79BA9C7-4C38-4D3B-8EC6-478577397A72}" destId="{96A1A6ED-52D0-481C-9004-10BC321E4F8C}" srcOrd="5" destOrd="0" presId="urn:microsoft.com/office/officeart/2005/8/layout/cycle3"/>
    <dgm:cxn modelId="{19C2A90E-258F-4ED9-A87A-560FF643B669}" type="presParOf" srcId="{E79BA9C7-4C38-4D3B-8EC6-478577397A72}" destId="{36A99D2D-E630-43AA-BD41-E01396E38198}" srcOrd="6" destOrd="0" presId="urn:microsoft.com/office/officeart/2005/8/layout/cycle3"/>
    <dgm:cxn modelId="{A66E0B89-9B43-4BD3-B6AD-838E4316DDB7}" type="presParOf" srcId="{E79BA9C7-4C38-4D3B-8EC6-478577397A72}" destId="{1DD13C5B-1EF4-4114-8118-97F17CDCE02F}" srcOrd="7" destOrd="0" presId="urn:microsoft.com/office/officeart/2005/8/layout/cycle3"/>
    <dgm:cxn modelId="{F4868F2F-187B-44A6-AE90-CE377FECE7AD}" type="presParOf" srcId="{E79BA9C7-4C38-4D3B-8EC6-478577397A72}" destId="{70A64493-AC09-40A1-A0FF-9028B8A41448}" srcOrd="8" destOrd="0" presId="urn:microsoft.com/office/officeart/2005/8/layout/cycle3"/>
    <dgm:cxn modelId="{04470DE7-135E-4B61-8E01-97E471D0FE39}" type="presParOf" srcId="{E79BA9C7-4C38-4D3B-8EC6-478577397A72}" destId="{F4BBF32A-69F6-4CBE-897F-13E46AAC172F}" srcOrd="9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C3DE7-0AFB-47E5-8571-770E34B379EE}">
      <dsp:nvSpPr>
        <dsp:cNvPr id="0" name=""/>
        <dsp:cNvSpPr/>
      </dsp:nvSpPr>
      <dsp:spPr>
        <a:xfrm>
          <a:off x="1412811" y="-68567"/>
          <a:ext cx="6444058" cy="6444058"/>
        </a:xfrm>
        <a:prstGeom prst="circularArrow">
          <a:avLst>
            <a:gd name="adj1" fmla="val 5544"/>
            <a:gd name="adj2" fmla="val 330680"/>
            <a:gd name="adj3" fmla="val 14746364"/>
            <a:gd name="adj4" fmla="val 16819338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DE628-0FE8-4E6C-A403-91414DBD9E87}">
      <dsp:nvSpPr>
        <dsp:cNvPr id="0" name=""/>
        <dsp:cNvSpPr/>
      </dsp:nvSpPr>
      <dsp:spPr>
        <a:xfrm>
          <a:off x="3797491" y="2288"/>
          <a:ext cx="1674698" cy="837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Extensive Literature Survey</a:t>
          </a:r>
        </a:p>
      </dsp:txBody>
      <dsp:txXfrm>
        <a:off x="3838367" y="43164"/>
        <a:ext cx="1592946" cy="755597"/>
      </dsp:txXfrm>
    </dsp:sp>
    <dsp:sp modelId="{B087D3D8-9770-40AE-AD98-BBA66C1990E0}">
      <dsp:nvSpPr>
        <dsp:cNvPr id="0" name=""/>
        <dsp:cNvSpPr/>
      </dsp:nvSpPr>
      <dsp:spPr>
        <a:xfrm>
          <a:off x="5563871" y="645198"/>
          <a:ext cx="1674698" cy="837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Data aggregation</a:t>
          </a:r>
        </a:p>
      </dsp:txBody>
      <dsp:txXfrm>
        <a:off x="5604747" y="686074"/>
        <a:ext cx="1592946" cy="755597"/>
      </dsp:txXfrm>
    </dsp:sp>
    <dsp:sp modelId="{FC2A1461-54C0-4D9A-84DC-B77F32B5EEF9}">
      <dsp:nvSpPr>
        <dsp:cNvPr id="0" name=""/>
        <dsp:cNvSpPr/>
      </dsp:nvSpPr>
      <dsp:spPr>
        <a:xfrm>
          <a:off x="6503742" y="2273102"/>
          <a:ext cx="1674698" cy="837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Model algorithm creation </a:t>
          </a:r>
        </a:p>
      </dsp:txBody>
      <dsp:txXfrm>
        <a:off x="6544618" y="2313978"/>
        <a:ext cx="1592946" cy="755597"/>
      </dsp:txXfrm>
    </dsp:sp>
    <dsp:sp modelId="{7A270063-24BB-4A5C-8ADB-9AC35B26AFAF}">
      <dsp:nvSpPr>
        <dsp:cNvPr id="0" name=""/>
        <dsp:cNvSpPr/>
      </dsp:nvSpPr>
      <dsp:spPr>
        <a:xfrm>
          <a:off x="6177328" y="4124287"/>
          <a:ext cx="1674698" cy="837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Pre-processing phase</a:t>
          </a:r>
        </a:p>
      </dsp:txBody>
      <dsp:txXfrm>
        <a:off x="6218204" y="4165163"/>
        <a:ext cx="1592946" cy="755597"/>
      </dsp:txXfrm>
    </dsp:sp>
    <dsp:sp modelId="{96A1A6ED-52D0-481C-9004-10BC321E4F8C}">
      <dsp:nvSpPr>
        <dsp:cNvPr id="0" name=""/>
        <dsp:cNvSpPr/>
      </dsp:nvSpPr>
      <dsp:spPr>
        <a:xfrm>
          <a:off x="4737362" y="5332562"/>
          <a:ext cx="1674698" cy="837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Data preprocessing</a:t>
          </a:r>
        </a:p>
      </dsp:txBody>
      <dsp:txXfrm>
        <a:off x="4778238" y="5373438"/>
        <a:ext cx="1592946" cy="755597"/>
      </dsp:txXfrm>
    </dsp:sp>
    <dsp:sp modelId="{36A99D2D-E630-43AA-BD41-E01396E38198}">
      <dsp:nvSpPr>
        <dsp:cNvPr id="0" name=""/>
        <dsp:cNvSpPr/>
      </dsp:nvSpPr>
      <dsp:spPr>
        <a:xfrm>
          <a:off x="2857620" y="5332562"/>
          <a:ext cx="1674698" cy="837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Coding</a:t>
          </a:r>
        </a:p>
      </dsp:txBody>
      <dsp:txXfrm>
        <a:off x="2898496" y="5373438"/>
        <a:ext cx="1592946" cy="755597"/>
      </dsp:txXfrm>
    </dsp:sp>
    <dsp:sp modelId="{1DD13C5B-1EF4-4114-8118-97F17CDCE02F}">
      <dsp:nvSpPr>
        <dsp:cNvPr id="0" name=""/>
        <dsp:cNvSpPr/>
      </dsp:nvSpPr>
      <dsp:spPr>
        <a:xfrm>
          <a:off x="1417654" y="4124287"/>
          <a:ext cx="1674698" cy="837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Validation</a:t>
          </a:r>
        </a:p>
      </dsp:txBody>
      <dsp:txXfrm>
        <a:off x="1458530" y="4165163"/>
        <a:ext cx="1592946" cy="755597"/>
      </dsp:txXfrm>
    </dsp:sp>
    <dsp:sp modelId="{70A64493-AC09-40A1-A0FF-9028B8A41448}">
      <dsp:nvSpPr>
        <dsp:cNvPr id="0" name=""/>
        <dsp:cNvSpPr/>
      </dsp:nvSpPr>
      <dsp:spPr>
        <a:xfrm>
          <a:off x="1091240" y="2273102"/>
          <a:ext cx="1674698" cy="837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Statistical Analysis</a:t>
          </a:r>
        </a:p>
      </dsp:txBody>
      <dsp:txXfrm>
        <a:off x="1132116" y="2313978"/>
        <a:ext cx="1592946" cy="755597"/>
      </dsp:txXfrm>
    </dsp:sp>
    <dsp:sp modelId="{F4BBF32A-69F6-4CBE-897F-13E46AAC172F}">
      <dsp:nvSpPr>
        <dsp:cNvPr id="0" name=""/>
        <dsp:cNvSpPr/>
      </dsp:nvSpPr>
      <dsp:spPr>
        <a:xfrm>
          <a:off x="2031111" y="645198"/>
          <a:ext cx="1674698" cy="837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Simulation of a model</a:t>
          </a:r>
        </a:p>
      </dsp:txBody>
      <dsp:txXfrm>
        <a:off x="2071987" y="686074"/>
        <a:ext cx="1592946" cy="755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9C11F-049B-4B44-A6A7-5596B0EB18E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80094-53E1-41C0-9497-986BECCA7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64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86,216 Cr  budget,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23581 Government Hospitals and 22k Central Government Hospitals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 ,total 80,000 hospitas.66% of GDP goes to health expenditure ,global healthcare rank is 136 and disease and mortality rate is higher,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44,000 pvt,26k public, state 65 % ,Central 45 %. 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National Medical Commission (NMC)   , 11 lakh doctors  but only 3 lakh registered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58A6A-89BB-4F80-8098-65FCB3E496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0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According to various parameters healthcare in public and </a:t>
            </a:r>
            <a:r>
              <a:rPr lang="en-US" dirty="0" err="1"/>
              <a:t>pvt</a:t>
            </a:r>
            <a:r>
              <a:rPr lang="en-US" dirty="0"/>
              <a:t> ,</a:t>
            </a:r>
            <a:r>
              <a:rPr lang="en-US" dirty="0" err="1"/>
              <a:t>pvt</a:t>
            </a:r>
            <a:r>
              <a:rPr lang="en-US" dirty="0"/>
              <a:t> is </a:t>
            </a:r>
            <a:r>
              <a:rPr lang="en-US" dirty="0" err="1"/>
              <a:t>btter</a:t>
            </a:r>
            <a:r>
              <a:rPr lang="en-US" dirty="0"/>
              <a:t> but costly and </a:t>
            </a:r>
            <a:r>
              <a:rPr lang="en-US" dirty="0" err="1"/>
              <a:t>discrict</a:t>
            </a:r>
            <a:r>
              <a:rPr lang="en-US" dirty="0"/>
              <a:t> level is </a:t>
            </a:r>
            <a:r>
              <a:rPr lang="en-US" dirty="0" err="1"/>
              <a:t>good,compared</a:t>
            </a:r>
            <a:r>
              <a:rPr lang="en-US" dirty="0"/>
              <a:t> to rural,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Information and Communication Technology</a:t>
            </a:r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 (ICT) in health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58A6A-89BB-4F80-8098-65FCB3E496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13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980094-53E1-41C0-9497-986BECCA768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59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58A6A-89BB-4F80-8098-65FCB3E4969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976" y="405129"/>
            <a:ext cx="7870508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4800" dirty="0">
              <a:latin typeface="Calibri"/>
              <a:cs typeface="Calibri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="" xmlns:a16="http://schemas.microsoft.com/office/drawing/2014/main" id="{D57157B0-C173-61C9-86B0-260B7E8C0E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44" y="63581"/>
            <a:ext cx="9144000" cy="638929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="" xmlns:a16="http://schemas.microsoft.com/office/drawing/2014/main" id="{6250E3BA-16E0-D4A6-FABA-885C81D60FE2}"/>
              </a:ext>
            </a:extLst>
          </p:cNvPr>
          <p:cNvSpPr txBox="1"/>
          <p:nvPr/>
        </p:nvSpPr>
        <p:spPr>
          <a:xfrm>
            <a:off x="114300" y="6395281"/>
            <a:ext cx="590454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The</a:t>
            </a:r>
            <a:r>
              <a:rPr sz="1600" b="1" kern="0" spc="-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6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Indian</a:t>
            </a:r>
            <a:r>
              <a:rPr sz="1600" b="1" kern="0" spc="22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Healthcare</a:t>
            </a:r>
            <a:r>
              <a:rPr sz="1600" b="1" kern="0" spc="9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organizational</a:t>
            </a:r>
            <a:r>
              <a:rPr sz="1600" b="1" kern="0" spc="-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6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Structure</a:t>
            </a:r>
            <a:r>
              <a:rPr sz="1600" b="1" kern="0" spc="4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600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in</a:t>
            </a:r>
            <a:r>
              <a:rPr sz="1600" b="1" kern="0" spc="-3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detail</a:t>
            </a:r>
            <a:endParaRPr sz="160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614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51B67E-ED2A-FCF7-479A-39F88E1A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8597" y="-101980"/>
            <a:ext cx="9372599" cy="646331"/>
          </a:xfrm>
        </p:spPr>
        <p:txBody>
          <a:bodyPr>
            <a:normAutofit/>
          </a:bodyPr>
          <a:lstStyle/>
          <a:p>
            <a:r>
              <a:rPr lang="en-US" sz="3600" dirty="0"/>
              <a:t>3 Tier Architecture of Indian Healthcare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82986C9-774B-4FC0-E73C-DEDE5D7E7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7780" y="1842642"/>
            <a:ext cx="4537684" cy="44858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 descr="A diagram of health care&#10;&#10;Description automatically generated">
            <a:extLst>
              <a:ext uri="{FF2B5EF4-FFF2-40B4-BE49-F238E27FC236}">
                <a16:creationId xmlns="" xmlns:a16="http://schemas.microsoft.com/office/drawing/2014/main" id="{FB2FFD36-719A-3A7C-A645-D5B5DCE444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9" t="-3078" r="28632" b="3078"/>
          <a:stretch/>
        </p:blipFill>
        <p:spPr>
          <a:xfrm>
            <a:off x="3" y="359230"/>
            <a:ext cx="4286249" cy="6218301"/>
          </a:xfrm>
          <a:prstGeom prst="rect">
            <a:avLst/>
          </a:prstGeom>
        </p:spPr>
      </p:pic>
      <p:pic>
        <p:nvPicPr>
          <p:cNvPr id="1026" name="Picture 2" descr="Segments of the Indian healthcare industry [15].">
            <a:extLst>
              <a:ext uri="{FF2B5EF4-FFF2-40B4-BE49-F238E27FC236}">
                <a16:creationId xmlns="" xmlns:a16="http://schemas.microsoft.com/office/drawing/2014/main" id="{8C4E07C8-CD89-CF1B-0E2A-835A8FF06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1" y="563505"/>
            <a:ext cx="4985081" cy="6014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19479A5-22C3-ED10-1F04-22FFFF3BC438}"/>
              </a:ext>
            </a:extLst>
          </p:cNvPr>
          <p:cNvSpPr txBox="1"/>
          <p:nvPr/>
        </p:nvSpPr>
        <p:spPr>
          <a:xfrm>
            <a:off x="1384632" y="6596685"/>
            <a:ext cx="6880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Building</a:t>
            </a:r>
            <a:r>
              <a:rPr kumimoji="0" lang="en-US" sz="1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Efficiencies</a:t>
            </a:r>
            <a:r>
              <a:rPr kumimoji="0" lang="en-US" sz="1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1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Indian</a:t>
            </a:r>
            <a:r>
              <a:rPr kumimoji="0" 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Healthcare</a:t>
            </a:r>
            <a:r>
              <a:rPr kumimoji="0" lang="en-US" sz="1400" b="1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System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Leveraging</a:t>
            </a:r>
            <a:r>
              <a:rPr kumimoji="0" lang="en-US" sz="14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Generative</a:t>
            </a:r>
            <a:r>
              <a:rPr kumimoji="0" lang="en-US" sz="1400" b="1" i="0" u="none" strike="noStrike" kern="1200" cap="none" spc="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AI </a:t>
            </a:r>
            <a:r>
              <a:rPr kumimoji="0" lang="en-US" sz="1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Techniques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051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99" t="8773" r="28628" b="15585"/>
          <a:stretch/>
        </p:blipFill>
        <p:spPr bwMode="auto">
          <a:xfrm>
            <a:off x="327547" y="122830"/>
            <a:ext cx="7127024" cy="6972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627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5442"/>
            <a:ext cx="8229600" cy="334962"/>
          </a:xfrm>
        </p:spPr>
        <p:txBody>
          <a:bodyPr>
            <a:noAutofit/>
          </a:bodyPr>
          <a:lstStyle/>
          <a:p>
            <a:r>
              <a:rPr lang="en-US" sz="2400" dirty="0" smtClean="0"/>
              <a:t>Probable use case for GEN-AI in Indian healthcare Ministry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5442" y="838204"/>
            <a:ext cx="9144000" cy="513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 smtClean="0"/>
              <a:t>Indian </a:t>
            </a:r>
            <a:r>
              <a:rPr lang="en-US" sz="1800" dirty="0"/>
              <a:t>health ministry department </a:t>
            </a:r>
            <a:r>
              <a:rPr lang="en-US" sz="1800" u="sng" dirty="0"/>
              <a:t>Budget allocation and management </a:t>
            </a:r>
            <a:endParaRPr lang="en-US" sz="1800" u="sng" dirty="0" smtClean="0"/>
          </a:p>
          <a:p>
            <a:pPr>
              <a:lnSpc>
                <a:spcPct val="150000"/>
              </a:lnSpc>
            </a:pPr>
            <a:r>
              <a:rPr lang="en-US" sz="1800" dirty="0" smtClean="0"/>
              <a:t>Prevention </a:t>
            </a:r>
            <a:r>
              <a:rPr lang="en-US" sz="1800" dirty="0"/>
              <a:t>methods for any </a:t>
            </a:r>
            <a:r>
              <a:rPr lang="en-US" sz="1800" u="sng" dirty="0"/>
              <a:t>Epidemic </a:t>
            </a:r>
            <a:r>
              <a:rPr lang="en-US" sz="1800" u="sng" dirty="0" smtClean="0"/>
              <a:t>management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Planning </a:t>
            </a:r>
            <a:r>
              <a:rPr lang="en-US" sz="1800" dirty="0"/>
              <a:t>and </a:t>
            </a:r>
            <a:r>
              <a:rPr lang="en-US" sz="1800" u="sng" dirty="0"/>
              <a:t>distribution of </a:t>
            </a:r>
            <a:r>
              <a:rPr lang="en-US" sz="1800" u="sng" dirty="0" smtClean="0"/>
              <a:t>resources</a:t>
            </a:r>
            <a:r>
              <a:rPr lang="en-US" sz="1800" dirty="0" smtClean="0"/>
              <a:t>. Designing </a:t>
            </a:r>
            <a:r>
              <a:rPr lang="en-US" sz="1800" dirty="0"/>
              <a:t>Infrastructure </a:t>
            </a:r>
            <a:r>
              <a:rPr lang="en-US" sz="1800" dirty="0" smtClean="0"/>
              <a:t>to </a:t>
            </a:r>
            <a:r>
              <a:rPr lang="en-US" sz="1800" dirty="0"/>
              <a:t>contribute to healthcare </a:t>
            </a:r>
            <a:r>
              <a:rPr lang="en-US" sz="1800" dirty="0" smtClean="0"/>
              <a:t>system and its distribution  Identify </a:t>
            </a:r>
            <a:r>
              <a:rPr lang="en-US" sz="1800" dirty="0"/>
              <a:t>Areas of weakness and states lacking </a:t>
            </a:r>
            <a:r>
              <a:rPr lang="en-US" sz="1800" dirty="0" smtClean="0"/>
              <a:t>resources</a:t>
            </a:r>
          </a:p>
          <a:p>
            <a:pPr>
              <a:lnSpc>
                <a:spcPct val="150000"/>
              </a:lnSpc>
            </a:pPr>
            <a:r>
              <a:rPr lang="en-US" sz="1800" u="sng" dirty="0" smtClean="0"/>
              <a:t>Medical Transcript  Designing </a:t>
            </a:r>
            <a:r>
              <a:rPr lang="en-US" sz="1800" dirty="0"/>
              <a:t>and identifying emergency measures to address various healthcare issues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</a:t>
            </a:r>
            <a:r>
              <a:rPr lang="en-US" sz="1800" dirty="0" smtClean="0"/>
              <a:t>o </a:t>
            </a:r>
            <a:r>
              <a:rPr lang="en-US" sz="1800" dirty="0"/>
              <a:t>have perpetual </a:t>
            </a:r>
            <a:r>
              <a:rPr lang="en-US" sz="1800" u="sng" dirty="0"/>
              <a:t>dialog with W.H.O </a:t>
            </a:r>
            <a:r>
              <a:rPr lang="en-US" sz="1800" dirty="0"/>
              <a:t>and other countries like European Union, US Healthcare Federal </a:t>
            </a:r>
            <a:r>
              <a:rPr lang="en-US" sz="1800" dirty="0" smtClean="0"/>
              <a:t>System. Supply </a:t>
            </a:r>
            <a:r>
              <a:rPr lang="en-US" sz="1800" dirty="0"/>
              <a:t>chain management during </a:t>
            </a:r>
            <a:r>
              <a:rPr lang="en-US" sz="1800" dirty="0" smtClean="0"/>
              <a:t>emergency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u="sng" dirty="0" smtClean="0"/>
              <a:t>Insurance policies-Gen </a:t>
            </a:r>
            <a:r>
              <a:rPr lang="en-US" sz="1800" dirty="0" smtClean="0"/>
              <a:t>AI can </a:t>
            </a:r>
            <a:r>
              <a:rPr lang="en-US" sz="1800" dirty="0"/>
              <a:t>study health issues then it can forecast claims and according to that can decide </a:t>
            </a:r>
            <a:r>
              <a:rPr lang="en-US" sz="1800" dirty="0" smtClean="0"/>
              <a:t>premium .</a:t>
            </a:r>
          </a:p>
          <a:p>
            <a:r>
              <a:rPr lang="en-US" sz="1800" dirty="0" smtClean="0"/>
              <a:t>Generative AI can help infrastructure </a:t>
            </a:r>
            <a:r>
              <a:rPr lang="en-US" sz="1800" dirty="0"/>
              <a:t>of </a:t>
            </a:r>
            <a:r>
              <a:rPr lang="en-US" sz="1800" u="sng" dirty="0"/>
              <a:t>Medical education </a:t>
            </a:r>
            <a:r>
              <a:rPr lang="en-US" sz="1800" u="sng" dirty="0" smtClean="0"/>
              <a:t>colleges</a:t>
            </a:r>
            <a:r>
              <a:rPr lang="en-US" sz="1800" dirty="0" smtClean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3176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Gen AI can be used to </a:t>
            </a:r>
            <a:r>
              <a:rPr lang="en-US" u="sng" dirty="0"/>
              <a:t>Encourage and tie up with Startup &amp; promote marketing and Management</a:t>
            </a:r>
            <a:r>
              <a:rPr lang="en-US" dirty="0"/>
              <a:t>, can recommend financing of healthcare startup</a:t>
            </a:r>
          </a:p>
          <a:p>
            <a:pPr>
              <a:lnSpc>
                <a:spcPct val="150000"/>
              </a:lnSpc>
            </a:pPr>
            <a:r>
              <a:rPr lang="en-US" dirty="0"/>
              <a:t>Gen AI help in create </a:t>
            </a:r>
            <a:r>
              <a:rPr lang="en-US" u="sng" dirty="0"/>
              <a:t>public awareness about health policies and </a:t>
            </a:r>
            <a:r>
              <a:rPr lang="en-US" u="sng" dirty="0" err="1"/>
              <a:t>yojana</a:t>
            </a:r>
            <a:r>
              <a:rPr lang="en-US" u="sng" dirty="0"/>
              <a:t>,</a:t>
            </a:r>
            <a:r>
              <a:rPr lang="en-US" dirty="0"/>
              <a:t> instructional content and distribution </a:t>
            </a:r>
          </a:p>
          <a:p>
            <a:pPr>
              <a:lnSpc>
                <a:spcPct val="150000"/>
              </a:lnSpc>
            </a:pPr>
            <a:r>
              <a:rPr lang="en-US" dirty="0"/>
              <a:t>Malnutrition, health issues Death and other issues can be tracked and accordingly create policies and do planning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51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712" y="76200"/>
            <a:ext cx="8839200" cy="334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Functions of Indian Healthcare Ministry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74147"/>
            <a:ext cx="8037102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17" y="4436551"/>
            <a:ext cx="6096000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13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845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Budget Allocation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752600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36" name="Picture 12" descr="C:\Users\ABC\Downloads\Generative AI for Healthcare Budget_files\9663e609-a096-4565-a393-c90f136c89b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8534400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09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421" y="1600200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89916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4224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SCM-MODEL</a:t>
            </a:r>
            <a:endParaRPr lang="en-US" dirty="0"/>
          </a:p>
        </p:txBody>
      </p:sp>
      <p:pic>
        <p:nvPicPr>
          <p:cNvPr id="4" name="Content Placeholder 3" descr="C:\Users\ABC\Downloads\scm-llm.png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52" b="-16039"/>
          <a:stretch/>
        </p:blipFill>
        <p:spPr bwMode="auto">
          <a:xfrm>
            <a:off x="304800" y="838200"/>
            <a:ext cx="8046720" cy="6385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6836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Budget Allocation with GEN AI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6629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083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0" dirty="0"/>
              <a:t>Gen AI IN INDIAN healthcare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33">
            <a:extLst>
              <a:ext uri="{FF2B5EF4-FFF2-40B4-BE49-F238E27FC236}">
                <a16:creationId xmlns="" xmlns:a16="http://schemas.microsoft.com/office/drawing/2014/main" id="{4E07286A-DD8D-517C-EEFB-976ADEA3EFDF}"/>
              </a:ext>
            </a:extLst>
          </p:cNvPr>
          <p:cNvGrpSpPr>
            <a:grpSpLocks/>
          </p:cNvGrpSpPr>
          <p:nvPr/>
        </p:nvGrpSpPr>
        <p:grpSpPr bwMode="auto">
          <a:xfrm>
            <a:off x="456215" y="1600299"/>
            <a:ext cx="2573337" cy="4992688"/>
            <a:chOff x="1822" y="-608"/>
            <a:chExt cx="4052" cy="7863"/>
          </a:xfrm>
        </p:grpSpPr>
        <p:sp>
          <p:nvSpPr>
            <p:cNvPr id="5" name="Freeform 39">
              <a:extLst>
                <a:ext uri="{FF2B5EF4-FFF2-40B4-BE49-F238E27FC236}">
                  <a16:creationId xmlns="" xmlns:a16="http://schemas.microsoft.com/office/drawing/2014/main" id="{B7A66FAF-32B9-885A-3DED-3D45F3A04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806"/>
              <a:ext cx="2628" cy="3029"/>
            </a:xfrm>
            <a:custGeom>
              <a:avLst/>
              <a:gdLst>
                <a:gd name="T0" fmla="+- 0 3136 1822"/>
                <a:gd name="T1" fmla="*/ T0 w 2628"/>
                <a:gd name="T2" fmla="+- 0 1807 1807"/>
                <a:gd name="T3" fmla="*/ 1807 h 3029"/>
                <a:gd name="T4" fmla="+- 0 1822 1822"/>
                <a:gd name="T5" fmla="*/ T4 w 2628"/>
                <a:gd name="T6" fmla="+- 0 2566 1807"/>
                <a:gd name="T7" fmla="*/ 2566 h 3029"/>
                <a:gd name="T8" fmla="+- 0 1822 1822"/>
                <a:gd name="T9" fmla="*/ T8 w 2628"/>
                <a:gd name="T10" fmla="+- 0 4076 1807"/>
                <a:gd name="T11" fmla="*/ 4076 h 3029"/>
                <a:gd name="T12" fmla="+- 0 3136 1822"/>
                <a:gd name="T13" fmla="*/ T12 w 2628"/>
                <a:gd name="T14" fmla="+- 0 4836 1807"/>
                <a:gd name="T15" fmla="*/ 4836 h 3029"/>
                <a:gd name="T16" fmla="+- 0 4450 1822"/>
                <a:gd name="T17" fmla="*/ T16 w 2628"/>
                <a:gd name="T18" fmla="+- 0 4076 1807"/>
                <a:gd name="T19" fmla="*/ 4076 h 3029"/>
                <a:gd name="T20" fmla="+- 0 4450 1822"/>
                <a:gd name="T21" fmla="*/ T20 w 2628"/>
                <a:gd name="T22" fmla="+- 0 2566 1807"/>
                <a:gd name="T23" fmla="*/ 2566 h 3029"/>
                <a:gd name="T24" fmla="+- 0 3136 1822"/>
                <a:gd name="T25" fmla="*/ T24 w 2628"/>
                <a:gd name="T26" fmla="+- 0 1807 1807"/>
                <a:gd name="T27" fmla="*/ 1807 h 302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</a:cxnLst>
              <a:rect l="0" t="0" r="r" b="b"/>
              <a:pathLst>
                <a:path w="2628" h="3029">
                  <a:moveTo>
                    <a:pt x="1314" y="0"/>
                  </a:moveTo>
                  <a:lnTo>
                    <a:pt x="0" y="759"/>
                  </a:lnTo>
                  <a:lnTo>
                    <a:pt x="0" y="2269"/>
                  </a:lnTo>
                  <a:lnTo>
                    <a:pt x="1314" y="3029"/>
                  </a:lnTo>
                  <a:lnTo>
                    <a:pt x="2628" y="2269"/>
                  </a:lnTo>
                  <a:lnTo>
                    <a:pt x="2628" y="759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D049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38">
              <a:extLst>
                <a:ext uri="{FF2B5EF4-FFF2-40B4-BE49-F238E27FC236}">
                  <a16:creationId xmlns="" xmlns:a16="http://schemas.microsoft.com/office/drawing/2014/main" id="{A361DA49-7F1F-ACD3-9F52-EE9FA5632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2341"/>
              <a:ext cx="389" cy="1959"/>
            </a:xfrm>
            <a:custGeom>
              <a:avLst/>
              <a:gdLst>
                <a:gd name="T0" fmla="+- 0 4062 4061"/>
                <a:gd name="T1" fmla="*/ T0 w 389"/>
                <a:gd name="T2" fmla="+- 0 2342 2342"/>
                <a:gd name="T3" fmla="*/ 2342 h 1959"/>
                <a:gd name="T4" fmla="+- 0 4061 4061"/>
                <a:gd name="T5" fmla="*/ T4 w 389"/>
                <a:gd name="T6" fmla="+- 0 2342 2342"/>
                <a:gd name="T7" fmla="*/ 2342 h 1959"/>
                <a:gd name="T8" fmla="+- 0 4061 4061"/>
                <a:gd name="T9" fmla="*/ T8 w 389"/>
                <a:gd name="T10" fmla="+- 0 4300 2342"/>
                <a:gd name="T11" fmla="*/ 4300 h 1959"/>
                <a:gd name="T12" fmla="+- 0 4062 4061"/>
                <a:gd name="T13" fmla="*/ T12 w 389"/>
                <a:gd name="T14" fmla="+- 0 4300 2342"/>
                <a:gd name="T15" fmla="*/ 4300 h 1959"/>
                <a:gd name="T16" fmla="+- 0 4450 4061"/>
                <a:gd name="T17" fmla="*/ T16 w 389"/>
                <a:gd name="T18" fmla="+- 0 4076 2342"/>
                <a:gd name="T19" fmla="*/ 4076 h 1959"/>
                <a:gd name="T20" fmla="+- 0 4450 4061"/>
                <a:gd name="T21" fmla="*/ T20 w 389"/>
                <a:gd name="T22" fmla="+- 0 2566 2342"/>
                <a:gd name="T23" fmla="*/ 2566 h 1959"/>
                <a:gd name="T24" fmla="+- 0 4062 4061"/>
                <a:gd name="T25" fmla="*/ T24 w 389"/>
                <a:gd name="T26" fmla="+- 0 2342 2342"/>
                <a:gd name="T27" fmla="*/ 2342 h 19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</a:cxnLst>
              <a:rect l="0" t="0" r="r" b="b"/>
              <a:pathLst>
                <a:path w="389" h="1959">
                  <a:moveTo>
                    <a:pt x="1" y="0"/>
                  </a:moveTo>
                  <a:lnTo>
                    <a:pt x="0" y="0"/>
                  </a:lnTo>
                  <a:lnTo>
                    <a:pt x="0" y="1958"/>
                  </a:lnTo>
                  <a:lnTo>
                    <a:pt x="1" y="1958"/>
                  </a:lnTo>
                  <a:lnTo>
                    <a:pt x="389" y="1734"/>
                  </a:lnTo>
                  <a:lnTo>
                    <a:pt x="389" y="2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37">
              <a:extLst>
                <a:ext uri="{FF2B5EF4-FFF2-40B4-BE49-F238E27FC236}">
                  <a16:creationId xmlns="" xmlns:a16="http://schemas.microsoft.com/office/drawing/2014/main" id="{8AD045D7-A883-C183-D2EF-674087B84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-608"/>
              <a:ext cx="2628" cy="3029"/>
            </a:xfrm>
            <a:custGeom>
              <a:avLst/>
              <a:gdLst>
                <a:gd name="T0" fmla="+- 0 4559 3245"/>
                <a:gd name="T1" fmla="*/ T0 w 2628"/>
                <a:gd name="T2" fmla="+- 0 -608 -608"/>
                <a:gd name="T3" fmla="*/ -608 h 3029"/>
                <a:gd name="T4" fmla="+- 0 3245 3245"/>
                <a:gd name="T5" fmla="*/ T4 w 2628"/>
                <a:gd name="T6" fmla="+- 0 151 -608"/>
                <a:gd name="T7" fmla="*/ 151 h 3029"/>
                <a:gd name="T8" fmla="+- 0 3245 3245"/>
                <a:gd name="T9" fmla="*/ T8 w 2628"/>
                <a:gd name="T10" fmla="+- 0 1662 -608"/>
                <a:gd name="T11" fmla="*/ 1662 h 3029"/>
                <a:gd name="T12" fmla="+- 0 4559 3245"/>
                <a:gd name="T13" fmla="*/ T12 w 2628"/>
                <a:gd name="T14" fmla="+- 0 2421 -608"/>
                <a:gd name="T15" fmla="*/ 2421 h 3029"/>
                <a:gd name="T16" fmla="+- 0 5873 3245"/>
                <a:gd name="T17" fmla="*/ T16 w 2628"/>
                <a:gd name="T18" fmla="+- 0 1662 -608"/>
                <a:gd name="T19" fmla="*/ 1662 h 3029"/>
                <a:gd name="T20" fmla="+- 0 5873 3245"/>
                <a:gd name="T21" fmla="*/ T20 w 2628"/>
                <a:gd name="T22" fmla="+- 0 151 -608"/>
                <a:gd name="T23" fmla="*/ 151 h 3029"/>
                <a:gd name="T24" fmla="+- 0 4559 3245"/>
                <a:gd name="T25" fmla="*/ T24 w 2628"/>
                <a:gd name="T26" fmla="+- 0 -608 -608"/>
                <a:gd name="T27" fmla="*/ -608 h 302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</a:cxnLst>
              <a:rect l="0" t="0" r="r" b="b"/>
              <a:pathLst>
                <a:path w="2628" h="3029">
                  <a:moveTo>
                    <a:pt x="1314" y="0"/>
                  </a:moveTo>
                  <a:lnTo>
                    <a:pt x="0" y="759"/>
                  </a:lnTo>
                  <a:lnTo>
                    <a:pt x="0" y="2270"/>
                  </a:lnTo>
                  <a:lnTo>
                    <a:pt x="1314" y="3029"/>
                  </a:lnTo>
                  <a:lnTo>
                    <a:pt x="2628" y="2270"/>
                  </a:lnTo>
                  <a:lnTo>
                    <a:pt x="2628" y="759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EB8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36">
              <a:extLst>
                <a:ext uri="{FF2B5EF4-FFF2-40B4-BE49-F238E27FC236}">
                  <a16:creationId xmlns="" xmlns:a16="http://schemas.microsoft.com/office/drawing/2014/main" id="{F87D2015-C631-AE6E-05EA-97D52445A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1" y="1201"/>
              <a:ext cx="1702" cy="1220"/>
            </a:xfrm>
            <a:custGeom>
              <a:avLst/>
              <a:gdLst>
                <a:gd name="T0" fmla="+- 0 5873 4171"/>
                <a:gd name="T1" fmla="*/ T0 w 1702"/>
                <a:gd name="T2" fmla="+- 0 1202 1202"/>
                <a:gd name="T3" fmla="*/ 1202 h 1220"/>
                <a:gd name="T4" fmla="+- 0 4171 4171"/>
                <a:gd name="T5" fmla="*/ T4 w 1702"/>
                <a:gd name="T6" fmla="+- 0 2186 1202"/>
                <a:gd name="T7" fmla="*/ 2186 h 1220"/>
                <a:gd name="T8" fmla="+- 0 4171 4171"/>
                <a:gd name="T9" fmla="*/ T8 w 1702"/>
                <a:gd name="T10" fmla="+- 0 2196 1202"/>
                <a:gd name="T11" fmla="*/ 2196 h 1220"/>
                <a:gd name="T12" fmla="+- 0 4560 4171"/>
                <a:gd name="T13" fmla="*/ T12 w 1702"/>
                <a:gd name="T14" fmla="+- 0 2421 1202"/>
                <a:gd name="T15" fmla="*/ 2421 h 1220"/>
                <a:gd name="T16" fmla="+- 0 5873 4171"/>
                <a:gd name="T17" fmla="*/ T16 w 1702"/>
                <a:gd name="T18" fmla="+- 0 1662 1202"/>
                <a:gd name="T19" fmla="*/ 1662 h 1220"/>
                <a:gd name="T20" fmla="+- 0 5873 4171"/>
                <a:gd name="T21" fmla="*/ T20 w 1702"/>
                <a:gd name="T22" fmla="+- 0 1202 1202"/>
                <a:gd name="T23" fmla="*/ 1202 h 122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</a:cxnLst>
              <a:rect l="0" t="0" r="r" b="b"/>
              <a:pathLst>
                <a:path w="1702" h="1220">
                  <a:moveTo>
                    <a:pt x="1702" y="0"/>
                  </a:moveTo>
                  <a:lnTo>
                    <a:pt x="0" y="984"/>
                  </a:lnTo>
                  <a:lnTo>
                    <a:pt x="0" y="994"/>
                  </a:lnTo>
                  <a:lnTo>
                    <a:pt x="389" y="1219"/>
                  </a:lnTo>
                  <a:lnTo>
                    <a:pt x="1702" y="460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35">
              <a:extLst>
                <a:ext uri="{FF2B5EF4-FFF2-40B4-BE49-F238E27FC236}">
                  <a16:creationId xmlns="" xmlns:a16="http://schemas.microsoft.com/office/drawing/2014/main" id="{C4A38749-D548-E195-8F3C-8D618BB86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4228"/>
              <a:ext cx="2628" cy="3027"/>
            </a:xfrm>
            <a:custGeom>
              <a:avLst/>
              <a:gdLst>
                <a:gd name="T0" fmla="+- 0 4559 3245"/>
                <a:gd name="T1" fmla="*/ T0 w 2628"/>
                <a:gd name="T2" fmla="+- 0 4228 4228"/>
                <a:gd name="T3" fmla="*/ 4228 h 3027"/>
                <a:gd name="T4" fmla="+- 0 3245 3245"/>
                <a:gd name="T5" fmla="*/ T4 w 2628"/>
                <a:gd name="T6" fmla="+- 0 4987 4228"/>
                <a:gd name="T7" fmla="*/ 4987 h 3027"/>
                <a:gd name="T8" fmla="+- 0 3245 3245"/>
                <a:gd name="T9" fmla="*/ T8 w 2628"/>
                <a:gd name="T10" fmla="+- 0 6496 4228"/>
                <a:gd name="T11" fmla="*/ 6496 h 3027"/>
                <a:gd name="T12" fmla="+- 0 4559 3245"/>
                <a:gd name="T13" fmla="*/ T12 w 2628"/>
                <a:gd name="T14" fmla="+- 0 7255 4228"/>
                <a:gd name="T15" fmla="*/ 7255 h 3027"/>
                <a:gd name="T16" fmla="+- 0 5873 3245"/>
                <a:gd name="T17" fmla="*/ T16 w 2628"/>
                <a:gd name="T18" fmla="+- 0 6496 4228"/>
                <a:gd name="T19" fmla="*/ 6496 h 3027"/>
                <a:gd name="T20" fmla="+- 0 5873 3245"/>
                <a:gd name="T21" fmla="*/ T20 w 2628"/>
                <a:gd name="T22" fmla="+- 0 4987 4228"/>
                <a:gd name="T23" fmla="*/ 4987 h 3027"/>
                <a:gd name="T24" fmla="+- 0 4559 3245"/>
                <a:gd name="T25" fmla="*/ T24 w 2628"/>
                <a:gd name="T26" fmla="+- 0 4228 4228"/>
                <a:gd name="T27" fmla="*/ 4228 h 3027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</a:cxnLst>
              <a:rect l="0" t="0" r="r" b="b"/>
              <a:pathLst>
                <a:path w="2628" h="3027">
                  <a:moveTo>
                    <a:pt x="1314" y="0"/>
                  </a:moveTo>
                  <a:lnTo>
                    <a:pt x="0" y="759"/>
                  </a:lnTo>
                  <a:lnTo>
                    <a:pt x="0" y="2268"/>
                  </a:lnTo>
                  <a:lnTo>
                    <a:pt x="1314" y="3027"/>
                  </a:lnTo>
                  <a:lnTo>
                    <a:pt x="2628" y="2268"/>
                  </a:lnTo>
                  <a:lnTo>
                    <a:pt x="2628" y="759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EB8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AutoShape 34">
              <a:extLst>
                <a:ext uri="{FF2B5EF4-FFF2-40B4-BE49-F238E27FC236}">
                  <a16:creationId xmlns="" xmlns:a16="http://schemas.microsoft.com/office/drawing/2014/main" id="{197F5703-E80E-CA48-3CEC-2B6C3660C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1" y="1800"/>
              <a:ext cx="1702" cy="3647"/>
            </a:xfrm>
            <a:custGeom>
              <a:avLst/>
              <a:gdLst>
                <a:gd name="T0" fmla="+- 0 4921 4171"/>
                <a:gd name="T1" fmla="*/ T0 w 1702"/>
                <a:gd name="T2" fmla="+- 0 3244 1801"/>
                <a:gd name="T3" fmla="*/ 3244 h 3647"/>
                <a:gd name="T4" fmla="+- 0 4874 4171"/>
                <a:gd name="T5" fmla="*/ T4 w 1702"/>
                <a:gd name="T6" fmla="+- 0 3102 1801"/>
                <a:gd name="T7" fmla="*/ 3102 h 3647"/>
                <a:gd name="T8" fmla="+- 0 4787 4171"/>
                <a:gd name="T9" fmla="*/ T8 w 1702"/>
                <a:gd name="T10" fmla="+- 0 2983 1801"/>
                <a:gd name="T11" fmla="*/ 2983 h 3647"/>
                <a:gd name="T12" fmla="+- 0 4669 4171"/>
                <a:gd name="T13" fmla="*/ T12 w 1702"/>
                <a:gd name="T14" fmla="+- 0 2897 1801"/>
                <a:gd name="T15" fmla="*/ 2897 h 3647"/>
                <a:gd name="T16" fmla="+- 0 4527 4171"/>
                <a:gd name="T17" fmla="*/ T16 w 1702"/>
                <a:gd name="T18" fmla="+- 0 2850 1801"/>
                <a:gd name="T19" fmla="*/ 2850 h 3647"/>
                <a:gd name="T20" fmla="+- 0 4450 4171"/>
                <a:gd name="T21" fmla="*/ T20 w 1702"/>
                <a:gd name="T22" fmla="+- 0 3799 1801"/>
                <a:gd name="T23" fmla="*/ 3799 h 3647"/>
                <a:gd name="T24" fmla="+- 0 4601 4171"/>
                <a:gd name="T25" fmla="*/ T24 w 1702"/>
                <a:gd name="T26" fmla="+- 0 3774 1801"/>
                <a:gd name="T27" fmla="*/ 3774 h 3647"/>
                <a:gd name="T28" fmla="+- 0 4732 4171"/>
                <a:gd name="T29" fmla="*/ T28 w 1702"/>
                <a:gd name="T30" fmla="+- 0 3707 1801"/>
                <a:gd name="T31" fmla="*/ 3707 h 3647"/>
                <a:gd name="T32" fmla="+- 0 4835 4171"/>
                <a:gd name="T33" fmla="*/ T32 w 1702"/>
                <a:gd name="T34" fmla="+- 0 3603 1801"/>
                <a:gd name="T35" fmla="*/ 3603 h 3647"/>
                <a:gd name="T36" fmla="+- 0 4903 4171"/>
                <a:gd name="T37" fmla="*/ T36 w 1702"/>
                <a:gd name="T38" fmla="+- 0 3472 1801"/>
                <a:gd name="T39" fmla="*/ 3472 h 3647"/>
                <a:gd name="T40" fmla="+- 0 4927 4171"/>
                <a:gd name="T41" fmla="*/ T40 w 1702"/>
                <a:gd name="T42" fmla="+- 0 3321 1801"/>
                <a:gd name="T43" fmla="*/ 3321 h 3647"/>
                <a:gd name="T44" fmla="+- 0 5639 4171"/>
                <a:gd name="T45" fmla="*/ T44 w 1702"/>
                <a:gd name="T46" fmla="+- 0 1944 1801"/>
                <a:gd name="T47" fmla="*/ 1944 h 3647"/>
                <a:gd name="T48" fmla="+- 0 5585 4171"/>
                <a:gd name="T49" fmla="*/ T48 w 1702"/>
                <a:gd name="T50" fmla="+- 0 1801 1801"/>
                <a:gd name="T51" fmla="*/ 1801 h 3647"/>
                <a:gd name="T52" fmla="+- 0 4801 4171"/>
                <a:gd name="T53" fmla="*/ T52 w 1702"/>
                <a:gd name="T54" fmla="+- 0 2343 1801"/>
                <a:gd name="T55" fmla="*/ 2343 h 3647"/>
                <a:gd name="T56" fmla="+- 0 4913 4171"/>
                <a:gd name="T57" fmla="*/ T56 w 1702"/>
                <a:gd name="T58" fmla="+- 0 2442 1801"/>
                <a:gd name="T59" fmla="*/ 2442 h 3647"/>
                <a:gd name="T60" fmla="+- 0 5047 4171"/>
                <a:gd name="T61" fmla="*/ T60 w 1702"/>
                <a:gd name="T62" fmla="+- 0 2501 1801"/>
                <a:gd name="T63" fmla="*/ 2501 h 3647"/>
                <a:gd name="T64" fmla="+- 0 5193 4171"/>
                <a:gd name="T65" fmla="*/ T64 w 1702"/>
                <a:gd name="T66" fmla="+- 0 2517 1801"/>
                <a:gd name="T67" fmla="*/ 2517 h 3647"/>
                <a:gd name="T68" fmla="+- 0 5339 4171"/>
                <a:gd name="T69" fmla="*/ T68 w 1702"/>
                <a:gd name="T70" fmla="+- 0 2487 1801"/>
                <a:gd name="T71" fmla="*/ 2487 h 3647"/>
                <a:gd name="T72" fmla="+- 0 5474 4171"/>
                <a:gd name="T73" fmla="*/ T72 w 1702"/>
                <a:gd name="T74" fmla="+- 0 2409 1801"/>
                <a:gd name="T75" fmla="*/ 2409 h 3647"/>
                <a:gd name="T76" fmla="+- 0 5573 4171"/>
                <a:gd name="T77" fmla="*/ T76 w 1702"/>
                <a:gd name="T78" fmla="+- 0 2298 1801"/>
                <a:gd name="T79" fmla="*/ 2298 h 3647"/>
                <a:gd name="T80" fmla="+- 0 5632 4171"/>
                <a:gd name="T81" fmla="*/ T80 w 1702"/>
                <a:gd name="T82" fmla="+- 0 2163 1801"/>
                <a:gd name="T83" fmla="*/ 2163 h 3647"/>
                <a:gd name="T84" fmla="+- 0 5648 4171"/>
                <a:gd name="T85" fmla="*/ T84 w 1702"/>
                <a:gd name="T86" fmla="+- 0 2018 1801"/>
                <a:gd name="T87" fmla="*/ 2018 h 3647"/>
                <a:gd name="T88" fmla="+- 0 5589 4171"/>
                <a:gd name="T89" fmla="*/ T88 w 1702"/>
                <a:gd name="T90" fmla="+- 0 4824 1801"/>
                <a:gd name="T91" fmla="*/ 4824 h 3647"/>
                <a:gd name="T92" fmla="+- 0 5639 4171"/>
                <a:gd name="T93" fmla="*/ T92 w 1702"/>
                <a:gd name="T94" fmla="+- 0 4690 1801"/>
                <a:gd name="T95" fmla="*/ 4690 h 3647"/>
                <a:gd name="T96" fmla="+- 0 5646 4171"/>
                <a:gd name="T97" fmla="*/ T96 w 1702"/>
                <a:gd name="T98" fmla="+- 0 4543 1801"/>
                <a:gd name="T99" fmla="*/ 4543 h 3647"/>
                <a:gd name="T100" fmla="+- 0 5608 4171"/>
                <a:gd name="T101" fmla="*/ T100 w 1702"/>
                <a:gd name="T102" fmla="+- 0 4402 1801"/>
                <a:gd name="T103" fmla="*/ 4402 h 3647"/>
                <a:gd name="T104" fmla="+- 0 5528 4171"/>
                <a:gd name="T105" fmla="*/ T104 w 1702"/>
                <a:gd name="T106" fmla="+- 0 4277 1801"/>
                <a:gd name="T107" fmla="*/ 4277 h 3647"/>
                <a:gd name="T108" fmla="+- 0 5410 4171"/>
                <a:gd name="T109" fmla="*/ T108 w 1702"/>
                <a:gd name="T110" fmla="+- 0 4181 1801"/>
                <a:gd name="T111" fmla="*/ 4181 h 3647"/>
                <a:gd name="T112" fmla="+- 0 5267 4171"/>
                <a:gd name="T113" fmla="*/ T112 w 1702"/>
                <a:gd name="T114" fmla="+- 0 4126 1801"/>
                <a:gd name="T115" fmla="*/ 4126 h 3647"/>
                <a:gd name="T116" fmla="+- 0 5119 4171"/>
                <a:gd name="T117" fmla="*/ T116 w 1702"/>
                <a:gd name="T118" fmla="+- 0 4119 1801"/>
                <a:gd name="T119" fmla="*/ 4119 h 3647"/>
                <a:gd name="T120" fmla="+- 0 4978 4171"/>
                <a:gd name="T121" fmla="*/ T120 w 1702"/>
                <a:gd name="T122" fmla="+- 0 4157 1801"/>
                <a:gd name="T123" fmla="*/ 4157 h 3647"/>
                <a:gd name="T124" fmla="+- 0 4853 4171"/>
                <a:gd name="T125" fmla="*/ T124 w 1702"/>
                <a:gd name="T126" fmla="+- 0 4237 1801"/>
                <a:gd name="T127" fmla="*/ 4237 h 3647"/>
                <a:gd name="T128" fmla="+- 0 4763 4171"/>
                <a:gd name="T129" fmla="*/ T128 w 1702"/>
                <a:gd name="T130" fmla="+- 0 4346 1801"/>
                <a:gd name="T131" fmla="*/ 4346 h 3647"/>
                <a:gd name="T132" fmla="+- 0 4171 4171"/>
                <a:gd name="T133" fmla="*/ T132 w 1702"/>
                <a:gd name="T134" fmla="+- 0 4453 1801"/>
                <a:gd name="T135" fmla="*/ 4453 h 3647"/>
                <a:gd name="T136" fmla="+- 0 5873 4171"/>
                <a:gd name="T137" fmla="*/ T136 w 1702"/>
                <a:gd name="T138" fmla="+- 0 5448 1801"/>
                <a:gd name="T139" fmla="*/ 5448 h 3647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  <a:cxn ang="0">
                  <a:pos x="T101" y="T103"/>
                </a:cxn>
                <a:cxn ang="0">
                  <a:pos x="T105" y="T107"/>
                </a:cxn>
                <a:cxn ang="0">
                  <a:pos x="T109" y="T111"/>
                </a:cxn>
                <a:cxn ang="0">
                  <a:pos x="T113" y="T115"/>
                </a:cxn>
                <a:cxn ang="0">
                  <a:pos x="T117" y="T119"/>
                </a:cxn>
                <a:cxn ang="0">
                  <a:pos x="T121" y="T123"/>
                </a:cxn>
                <a:cxn ang="0">
                  <a:pos x="T125" y="T127"/>
                </a:cxn>
                <a:cxn ang="0">
                  <a:pos x="T129" y="T131"/>
                </a:cxn>
                <a:cxn ang="0">
                  <a:pos x="T133" y="T135"/>
                </a:cxn>
                <a:cxn ang="0">
                  <a:pos x="T137" y="T139"/>
                </a:cxn>
              </a:cxnLst>
              <a:rect l="0" t="0" r="r" b="b"/>
              <a:pathLst>
                <a:path w="1702" h="3647">
                  <a:moveTo>
                    <a:pt x="756" y="1520"/>
                  </a:moveTo>
                  <a:lnTo>
                    <a:pt x="750" y="1443"/>
                  </a:lnTo>
                  <a:lnTo>
                    <a:pt x="732" y="1369"/>
                  </a:lnTo>
                  <a:lnTo>
                    <a:pt x="703" y="1301"/>
                  </a:lnTo>
                  <a:lnTo>
                    <a:pt x="664" y="1238"/>
                  </a:lnTo>
                  <a:lnTo>
                    <a:pt x="616" y="1182"/>
                  </a:lnTo>
                  <a:lnTo>
                    <a:pt x="561" y="1135"/>
                  </a:lnTo>
                  <a:lnTo>
                    <a:pt x="498" y="1096"/>
                  </a:lnTo>
                  <a:lnTo>
                    <a:pt x="430" y="1067"/>
                  </a:lnTo>
                  <a:lnTo>
                    <a:pt x="356" y="1049"/>
                  </a:lnTo>
                  <a:lnTo>
                    <a:pt x="279" y="1043"/>
                  </a:lnTo>
                  <a:lnTo>
                    <a:pt x="279" y="1998"/>
                  </a:lnTo>
                  <a:lnTo>
                    <a:pt x="356" y="1991"/>
                  </a:lnTo>
                  <a:lnTo>
                    <a:pt x="430" y="1973"/>
                  </a:lnTo>
                  <a:lnTo>
                    <a:pt x="498" y="1944"/>
                  </a:lnTo>
                  <a:lnTo>
                    <a:pt x="561" y="1906"/>
                  </a:lnTo>
                  <a:lnTo>
                    <a:pt x="616" y="1858"/>
                  </a:lnTo>
                  <a:lnTo>
                    <a:pt x="664" y="1802"/>
                  </a:lnTo>
                  <a:lnTo>
                    <a:pt x="703" y="1740"/>
                  </a:lnTo>
                  <a:lnTo>
                    <a:pt x="732" y="1671"/>
                  </a:lnTo>
                  <a:lnTo>
                    <a:pt x="750" y="1598"/>
                  </a:lnTo>
                  <a:lnTo>
                    <a:pt x="756" y="1520"/>
                  </a:lnTo>
                  <a:close/>
                  <a:moveTo>
                    <a:pt x="1477" y="217"/>
                  </a:moveTo>
                  <a:lnTo>
                    <a:pt x="1468" y="143"/>
                  </a:lnTo>
                  <a:lnTo>
                    <a:pt x="1447" y="70"/>
                  </a:lnTo>
                  <a:lnTo>
                    <a:pt x="1414" y="0"/>
                  </a:lnTo>
                  <a:lnTo>
                    <a:pt x="586" y="478"/>
                  </a:lnTo>
                  <a:lnTo>
                    <a:pt x="630" y="542"/>
                  </a:lnTo>
                  <a:lnTo>
                    <a:pt x="682" y="596"/>
                  </a:lnTo>
                  <a:lnTo>
                    <a:pt x="742" y="641"/>
                  </a:lnTo>
                  <a:lnTo>
                    <a:pt x="807" y="676"/>
                  </a:lnTo>
                  <a:lnTo>
                    <a:pt x="876" y="700"/>
                  </a:lnTo>
                  <a:lnTo>
                    <a:pt x="948" y="714"/>
                  </a:lnTo>
                  <a:lnTo>
                    <a:pt x="1022" y="716"/>
                  </a:lnTo>
                  <a:lnTo>
                    <a:pt x="1096" y="707"/>
                  </a:lnTo>
                  <a:lnTo>
                    <a:pt x="1168" y="686"/>
                  </a:lnTo>
                  <a:lnTo>
                    <a:pt x="1239" y="653"/>
                  </a:lnTo>
                  <a:lnTo>
                    <a:pt x="1303" y="608"/>
                  </a:lnTo>
                  <a:lnTo>
                    <a:pt x="1357" y="556"/>
                  </a:lnTo>
                  <a:lnTo>
                    <a:pt x="1402" y="497"/>
                  </a:lnTo>
                  <a:lnTo>
                    <a:pt x="1437" y="432"/>
                  </a:lnTo>
                  <a:lnTo>
                    <a:pt x="1461" y="362"/>
                  </a:lnTo>
                  <a:lnTo>
                    <a:pt x="1475" y="290"/>
                  </a:lnTo>
                  <a:lnTo>
                    <a:pt x="1477" y="217"/>
                  </a:lnTo>
                  <a:close/>
                  <a:moveTo>
                    <a:pt x="1702" y="3187"/>
                  </a:moveTo>
                  <a:lnTo>
                    <a:pt x="1418" y="3023"/>
                  </a:lnTo>
                  <a:lnTo>
                    <a:pt x="1447" y="2962"/>
                  </a:lnTo>
                  <a:lnTo>
                    <a:pt x="1468" y="2889"/>
                  </a:lnTo>
                  <a:lnTo>
                    <a:pt x="1477" y="2816"/>
                  </a:lnTo>
                  <a:lnTo>
                    <a:pt x="1475" y="2742"/>
                  </a:lnTo>
                  <a:lnTo>
                    <a:pt x="1461" y="2670"/>
                  </a:lnTo>
                  <a:lnTo>
                    <a:pt x="1437" y="2601"/>
                  </a:lnTo>
                  <a:lnTo>
                    <a:pt x="1402" y="2536"/>
                  </a:lnTo>
                  <a:lnTo>
                    <a:pt x="1357" y="2476"/>
                  </a:lnTo>
                  <a:lnTo>
                    <a:pt x="1303" y="2424"/>
                  </a:lnTo>
                  <a:lnTo>
                    <a:pt x="1239" y="2380"/>
                  </a:lnTo>
                  <a:lnTo>
                    <a:pt x="1168" y="2346"/>
                  </a:lnTo>
                  <a:lnTo>
                    <a:pt x="1096" y="2325"/>
                  </a:lnTo>
                  <a:lnTo>
                    <a:pt x="1022" y="2316"/>
                  </a:lnTo>
                  <a:lnTo>
                    <a:pt x="948" y="2318"/>
                  </a:lnTo>
                  <a:lnTo>
                    <a:pt x="876" y="2332"/>
                  </a:lnTo>
                  <a:lnTo>
                    <a:pt x="807" y="2356"/>
                  </a:lnTo>
                  <a:lnTo>
                    <a:pt x="742" y="2391"/>
                  </a:lnTo>
                  <a:lnTo>
                    <a:pt x="682" y="2436"/>
                  </a:lnTo>
                  <a:lnTo>
                    <a:pt x="630" y="2490"/>
                  </a:lnTo>
                  <a:lnTo>
                    <a:pt x="592" y="2545"/>
                  </a:lnTo>
                  <a:lnTo>
                    <a:pt x="389" y="2427"/>
                  </a:lnTo>
                  <a:lnTo>
                    <a:pt x="0" y="2652"/>
                  </a:lnTo>
                  <a:lnTo>
                    <a:pt x="0" y="2662"/>
                  </a:lnTo>
                  <a:lnTo>
                    <a:pt x="1702" y="3647"/>
                  </a:lnTo>
                  <a:lnTo>
                    <a:pt x="1702" y="3187"/>
                  </a:ln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1" name="Group 26">
            <a:extLst>
              <a:ext uri="{FF2B5EF4-FFF2-40B4-BE49-F238E27FC236}">
                <a16:creationId xmlns="" xmlns:a16="http://schemas.microsoft.com/office/drawing/2014/main" id="{7FF78539-2951-5C82-B1AC-471C646162D6}"/>
              </a:ext>
            </a:extLst>
          </p:cNvPr>
          <p:cNvGrpSpPr>
            <a:grpSpLocks/>
          </p:cNvGrpSpPr>
          <p:nvPr/>
        </p:nvGrpSpPr>
        <p:grpSpPr bwMode="auto">
          <a:xfrm>
            <a:off x="3153249" y="1664632"/>
            <a:ext cx="2573338" cy="4992688"/>
            <a:chOff x="6031" y="-1121"/>
            <a:chExt cx="4052" cy="7863"/>
          </a:xfrm>
        </p:grpSpPr>
        <p:sp>
          <p:nvSpPr>
            <p:cNvPr id="12" name="Freeform 32">
              <a:extLst>
                <a:ext uri="{FF2B5EF4-FFF2-40B4-BE49-F238E27FC236}">
                  <a16:creationId xmlns="" xmlns:a16="http://schemas.microsoft.com/office/drawing/2014/main" id="{9446553F-E28B-DC3C-6F22-F6A9D1F83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1" y="-1122"/>
              <a:ext cx="2628" cy="3029"/>
            </a:xfrm>
            <a:custGeom>
              <a:avLst/>
              <a:gdLst>
                <a:gd name="T0" fmla="+- 0 7345 6031"/>
                <a:gd name="T1" fmla="*/ T0 w 2628"/>
                <a:gd name="T2" fmla="+- 0 -1121 -1121"/>
                <a:gd name="T3" fmla="*/ -1121 h 3029"/>
                <a:gd name="T4" fmla="+- 0 6031 6031"/>
                <a:gd name="T5" fmla="*/ T4 w 2628"/>
                <a:gd name="T6" fmla="+- 0 -362 -1121"/>
                <a:gd name="T7" fmla="*/ -362 h 3029"/>
                <a:gd name="T8" fmla="+- 0 6031 6031"/>
                <a:gd name="T9" fmla="*/ T8 w 2628"/>
                <a:gd name="T10" fmla="+- 0 1148 -1121"/>
                <a:gd name="T11" fmla="*/ 1148 h 3029"/>
                <a:gd name="T12" fmla="+- 0 7345 6031"/>
                <a:gd name="T13" fmla="*/ T12 w 2628"/>
                <a:gd name="T14" fmla="+- 0 1908 -1121"/>
                <a:gd name="T15" fmla="*/ 1908 h 3029"/>
                <a:gd name="T16" fmla="+- 0 8659 6031"/>
                <a:gd name="T17" fmla="*/ T16 w 2628"/>
                <a:gd name="T18" fmla="+- 0 1148 -1121"/>
                <a:gd name="T19" fmla="*/ 1148 h 3029"/>
                <a:gd name="T20" fmla="+- 0 8659 6031"/>
                <a:gd name="T21" fmla="*/ T20 w 2628"/>
                <a:gd name="T22" fmla="+- 0 -362 -1121"/>
                <a:gd name="T23" fmla="*/ -362 h 3029"/>
                <a:gd name="T24" fmla="+- 0 7345 6031"/>
                <a:gd name="T25" fmla="*/ T24 w 2628"/>
                <a:gd name="T26" fmla="+- 0 -1121 -1121"/>
                <a:gd name="T27" fmla="*/ -1121 h 302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</a:cxnLst>
              <a:rect l="0" t="0" r="r" b="b"/>
              <a:pathLst>
                <a:path w="2628" h="3029">
                  <a:moveTo>
                    <a:pt x="1314" y="0"/>
                  </a:moveTo>
                  <a:lnTo>
                    <a:pt x="0" y="759"/>
                  </a:lnTo>
                  <a:lnTo>
                    <a:pt x="0" y="2269"/>
                  </a:lnTo>
                  <a:lnTo>
                    <a:pt x="1314" y="3029"/>
                  </a:lnTo>
                  <a:lnTo>
                    <a:pt x="2628" y="2269"/>
                  </a:lnTo>
                  <a:lnTo>
                    <a:pt x="2628" y="759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D049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31">
              <a:extLst>
                <a:ext uri="{FF2B5EF4-FFF2-40B4-BE49-F238E27FC236}">
                  <a16:creationId xmlns="" xmlns:a16="http://schemas.microsoft.com/office/drawing/2014/main" id="{E8C376BD-3735-095D-F268-3640C0C49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1" y="688"/>
              <a:ext cx="1704" cy="1220"/>
            </a:xfrm>
            <a:custGeom>
              <a:avLst/>
              <a:gdLst>
                <a:gd name="T0" fmla="+- 0 6031 6031"/>
                <a:gd name="T1" fmla="*/ T0 w 1704"/>
                <a:gd name="T2" fmla="+- 0 688 688"/>
                <a:gd name="T3" fmla="*/ 688 h 1220"/>
                <a:gd name="T4" fmla="+- 0 6031 6031"/>
                <a:gd name="T5" fmla="*/ T4 w 1704"/>
                <a:gd name="T6" fmla="+- 0 1148 688"/>
                <a:gd name="T7" fmla="*/ 1148 h 1220"/>
                <a:gd name="T8" fmla="+- 0 7346 6031"/>
                <a:gd name="T9" fmla="*/ T8 w 1704"/>
                <a:gd name="T10" fmla="+- 0 1908 688"/>
                <a:gd name="T11" fmla="*/ 1908 h 1220"/>
                <a:gd name="T12" fmla="+- 0 7735 6031"/>
                <a:gd name="T13" fmla="*/ T12 w 1704"/>
                <a:gd name="T14" fmla="+- 0 1683 688"/>
                <a:gd name="T15" fmla="*/ 1683 h 1220"/>
                <a:gd name="T16" fmla="+- 0 7735 6031"/>
                <a:gd name="T17" fmla="*/ T16 w 1704"/>
                <a:gd name="T18" fmla="+- 0 1673 688"/>
                <a:gd name="T19" fmla="*/ 1673 h 1220"/>
                <a:gd name="T20" fmla="+- 0 6031 6031"/>
                <a:gd name="T21" fmla="*/ T20 w 1704"/>
                <a:gd name="T22" fmla="+- 0 688 688"/>
                <a:gd name="T23" fmla="*/ 688 h 122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</a:cxnLst>
              <a:rect l="0" t="0" r="r" b="b"/>
              <a:pathLst>
                <a:path w="1704" h="1220">
                  <a:moveTo>
                    <a:pt x="0" y="0"/>
                  </a:moveTo>
                  <a:lnTo>
                    <a:pt x="0" y="460"/>
                  </a:lnTo>
                  <a:lnTo>
                    <a:pt x="1315" y="1220"/>
                  </a:lnTo>
                  <a:lnTo>
                    <a:pt x="1704" y="995"/>
                  </a:lnTo>
                  <a:lnTo>
                    <a:pt x="1704" y="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30">
              <a:extLst>
                <a:ext uri="{FF2B5EF4-FFF2-40B4-BE49-F238E27FC236}">
                  <a16:creationId xmlns="" xmlns:a16="http://schemas.microsoft.com/office/drawing/2014/main" id="{506862A4-76E5-98E7-1F44-80789C5A8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4" y="1293"/>
              <a:ext cx="2628" cy="3029"/>
            </a:xfrm>
            <a:custGeom>
              <a:avLst/>
              <a:gdLst>
                <a:gd name="T0" fmla="+- 0 8768 7454"/>
                <a:gd name="T1" fmla="*/ T0 w 2628"/>
                <a:gd name="T2" fmla="+- 0 1293 1293"/>
                <a:gd name="T3" fmla="*/ 1293 h 3029"/>
                <a:gd name="T4" fmla="+- 0 7454 7454"/>
                <a:gd name="T5" fmla="*/ T4 w 2628"/>
                <a:gd name="T6" fmla="+- 0 2052 1293"/>
                <a:gd name="T7" fmla="*/ 2052 h 3029"/>
                <a:gd name="T8" fmla="+- 0 7454 7454"/>
                <a:gd name="T9" fmla="*/ T8 w 2628"/>
                <a:gd name="T10" fmla="+- 0 3563 1293"/>
                <a:gd name="T11" fmla="*/ 3563 h 3029"/>
                <a:gd name="T12" fmla="+- 0 8768 7454"/>
                <a:gd name="T13" fmla="*/ T12 w 2628"/>
                <a:gd name="T14" fmla="+- 0 4322 1293"/>
                <a:gd name="T15" fmla="*/ 4322 h 3029"/>
                <a:gd name="T16" fmla="+- 0 10082 7454"/>
                <a:gd name="T17" fmla="*/ T16 w 2628"/>
                <a:gd name="T18" fmla="+- 0 3563 1293"/>
                <a:gd name="T19" fmla="*/ 3563 h 3029"/>
                <a:gd name="T20" fmla="+- 0 10082 7454"/>
                <a:gd name="T21" fmla="*/ T20 w 2628"/>
                <a:gd name="T22" fmla="+- 0 2052 1293"/>
                <a:gd name="T23" fmla="*/ 2052 h 3029"/>
                <a:gd name="T24" fmla="+- 0 8768 7454"/>
                <a:gd name="T25" fmla="*/ T24 w 2628"/>
                <a:gd name="T26" fmla="+- 0 1293 1293"/>
                <a:gd name="T27" fmla="*/ 1293 h 302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</a:cxnLst>
              <a:rect l="0" t="0" r="r" b="b"/>
              <a:pathLst>
                <a:path w="2628" h="3029">
                  <a:moveTo>
                    <a:pt x="1314" y="0"/>
                  </a:moveTo>
                  <a:lnTo>
                    <a:pt x="0" y="759"/>
                  </a:lnTo>
                  <a:lnTo>
                    <a:pt x="0" y="2270"/>
                  </a:lnTo>
                  <a:lnTo>
                    <a:pt x="1314" y="3029"/>
                  </a:lnTo>
                  <a:lnTo>
                    <a:pt x="2628" y="2270"/>
                  </a:lnTo>
                  <a:lnTo>
                    <a:pt x="2628" y="759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EB8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29">
              <a:extLst>
                <a:ext uri="{FF2B5EF4-FFF2-40B4-BE49-F238E27FC236}">
                  <a16:creationId xmlns="" xmlns:a16="http://schemas.microsoft.com/office/drawing/2014/main" id="{103EE449-E5AC-FB21-350F-8D19D6BB8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4" y="1828"/>
              <a:ext cx="389" cy="1959"/>
            </a:xfrm>
            <a:custGeom>
              <a:avLst/>
              <a:gdLst>
                <a:gd name="T0" fmla="+- 0 7842 7454"/>
                <a:gd name="T1" fmla="*/ T0 w 389"/>
                <a:gd name="T2" fmla="+- 0 1828 1828"/>
                <a:gd name="T3" fmla="*/ 1828 h 1959"/>
                <a:gd name="T4" fmla="+- 0 7454 7454"/>
                <a:gd name="T5" fmla="*/ T4 w 389"/>
                <a:gd name="T6" fmla="+- 0 2053 1828"/>
                <a:gd name="T7" fmla="*/ 2053 h 1959"/>
                <a:gd name="T8" fmla="+- 0 7454 7454"/>
                <a:gd name="T9" fmla="*/ T8 w 389"/>
                <a:gd name="T10" fmla="+- 0 3563 1828"/>
                <a:gd name="T11" fmla="*/ 3563 h 1959"/>
                <a:gd name="T12" fmla="+- 0 7842 7454"/>
                <a:gd name="T13" fmla="*/ T12 w 389"/>
                <a:gd name="T14" fmla="+- 0 3787 1828"/>
                <a:gd name="T15" fmla="*/ 3787 h 1959"/>
                <a:gd name="T16" fmla="+- 0 7843 7454"/>
                <a:gd name="T17" fmla="*/ T16 w 389"/>
                <a:gd name="T18" fmla="+- 0 3786 1828"/>
                <a:gd name="T19" fmla="*/ 3786 h 1959"/>
                <a:gd name="T20" fmla="+- 0 7843 7454"/>
                <a:gd name="T21" fmla="*/ T20 w 389"/>
                <a:gd name="T22" fmla="+- 0 1829 1828"/>
                <a:gd name="T23" fmla="*/ 1829 h 1959"/>
                <a:gd name="T24" fmla="+- 0 7842 7454"/>
                <a:gd name="T25" fmla="*/ T24 w 389"/>
                <a:gd name="T26" fmla="+- 0 1828 1828"/>
                <a:gd name="T27" fmla="*/ 1828 h 19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</a:cxnLst>
              <a:rect l="0" t="0" r="r" b="b"/>
              <a:pathLst>
                <a:path w="389" h="1959">
                  <a:moveTo>
                    <a:pt x="388" y="0"/>
                  </a:moveTo>
                  <a:lnTo>
                    <a:pt x="0" y="225"/>
                  </a:lnTo>
                  <a:lnTo>
                    <a:pt x="0" y="1735"/>
                  </a:lnTo>
                  <a:lnTo>
                    <a:pt x="388" y="1959"/>
                  </a:lnTo>
                  <a:lnTo>
                    <a:pt x="389" y="1958"/>
                  </a:lnTo>
                  <a:lnTo>
                    <a:pt x="389" y="1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28">
              <a:extLst>
                <a:ext uri="{FF2B5EF4-FFF2-40B4-BE49-F238E27FC236}">
                  <a16:creationId xmlns="" xmlns:a16="http://schemas.microsoft.com/office/drawing/2014/main" id="{FA006081-813F-67F6-38E5-ACA834DF0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1" y="3714"/>
              <a:ext cx="2628" cy="3027"/>
            </a:xfrm>
            <a:custGeom>
              <a:avLst/>
              <a:gdLst>
                <a:gd name="T0" fmla="+- 0 7345 6031"/>
                <a:gd name="T1" fmla="*/ T0 w 2628"/>
                <a:gd name="T2" fmla="+- 0 3715 3715"/>
                <a:gd name="T3" fmla="*/ 3715 h 3027"/>
                <a:gd name="T4" fmla="+- 0 6031 6031"/>
                <a:gd name="T5" fmla="*/ T4 w 2628"/>
                <a:gd name="T6" fmla="+- 0 4473 3715"/>
                <a:gd name="T7" fmla="*/ 4473 h 3027"/>
                <a:gd name="T8" fmla="+- 0 6031 6031"/>
                <a:gd name="T9" fmla="*/ T8 w 2628"/>
                <a:gd name="T10" fmla="+- 0 5983 3715"/>
                <a:gd name="T11" fmla="*/ 5983 h 3027"/>
                <a:gd name="T12" fmla="+- 0 7345 6031"/>
                <a:gd name="T13" fmla="*/ T12 w 2628"/>
                <a:gd name="T14" fmla="+- 0 6741 3715"/>
                <a:gd name="T15" fmla="*/ 6741 h 3027"/>
                <a:gd name="T16" fmla="+- 0 8659 6031"/>
                <a:gd name="T17" fmla="*/ T16 w 2628"/>
                <a:gd name="T18" fmla="+- 0 5983 3715"/>
                <a:gd name="T19" fmla="*/ 5983 h 3027"/>
                <a:gd name="T20" fmla="+- 0 8659 6031"/>
                <a:gd name="T21" fmla="*/ T20 w 2628"/>
                <a:gd name="T22" fmla="+- 0 4473 3715"/>
                <a:gd name="T23" fmla="*/ 4473 h 3027"/>
                <a:gd name="T24" fmla="+- 0 7345 6031"/>
                <a:gd name="T25" fmla="*/ T24 w 2628"/>
                <a:gd name="T26" fmla="+- 0 3715 3715"/>
                <a:gd name="T27" fmla="*/ 3715 h 3027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</a:cxnLst>
              <a:rect l="0" t="0" r="r" b="b"/>
              <a:pathLst>
                <a:path w="2628" h="3027">
                  <a:moveTo>
                    <a:pt x="1314" y="0"/>
                  </a:moveTo>
                  <a:lnTo>
                    <a:pt x="0" y="758"/>
                  </a:lnTo>
                  <a:lnTo>
                    <a:pt x="0" y="2268"/>
                  </a:lnTo>
                  <a:lnTo>
                    <a:pt x="1314" y="3026"/>
                  </a:lnTo>
                  <a:lnTo>
                    <a:pt x="2628" y="2268"/>
                  </a:lnTo>
                  <a:lnTo>
                    <a:pt x="2628" y="758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D049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AutoShape 27">
              <a:extLst>
                <a:ext uri="{FF2B5EF4-FFF2-40B4-BE49-F238E27FC236}">
                  <a16:creationId xmlns="" xmlns:a16="http://schemas.microsoft.com/office/drawing/2014/main" id="{50BA0152-75ED-1D37-3FCA-AA99E9843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1" y="1266"/>
              <a:ext cx="1704" cy="3668"/>
            </a:xfrm>
            <a:custGeom>
              <a:avLst/>
              <a:gdLst>
                <a:gd name="T0" fmla="+- 0 6249 6031"/>
                <a:gd name="T1" fmla="*/ T0 w 1704"/>
                <a:gd name="T2" fmla="+- 0 1266 1266"/>
                <a:gd name="T3" fmla="*/ 1266 h 3668"/>
                <a:gd name="T4" fmla="+- 0 6194 6031"/>
                <a:gd name="T5" fmla="*/ T4 w 1704"/>
                <a:gd name="T6" fmla="+- 0 1409 1266"/>
                <a:gd name="T7" fmla="*/ 1409 h 3668"/>
                <a:gd name="T8" fmla="+- 0 6187 6031"/>
                <a:gd name="T9" fmla="*/ T8 w 1704"/>
                <a:gd name="T10" fmla="+- 0 1557 1266"/>
                <a:gd name="T11" fmla="*/ 1557 h 3668"/>
                <a:gd name="T12" fmla="+- 0 6225 6031"/>
                <a:gd name="T13" fmla="*/ T12 w 1704"/>
                <a:gd name="T14" fmla="+- 0 1698 1266"/>
                <a:gd name="T15" fmla="*/ 1698 h 3668"/>
                <a:gd name="T16" fmla="+- 0 6305 6031"/>
                <a:gd name="T17" fmla="*/ T16 w 1704"/>
                <a:gd name="T18" fmla="+- 0 1823 1266"/>
                <a:gd name="T19" fmla="*/ 1823 h 3668"/>
                <a:gd name="T20" fmla="+- 0 6424 6031"/>
                <a:gd name="T21" fmla="*/ T20 w 1704"/>
                <a:gd name="T22" fmla="+- 0 1919 1266"/>
                <a:gd name="T23" fmla="*/ 1919 h 3668"/>
                <a:gd name="T24" fmla="+- 0 6567 6031"/>
                <a:gd name="T25" fmla="*/ T24 w 1704"/>
                <a:gd name="T26" fmla="+- 0 1974 1266"/>
                <a:gd name="T27" fmla="*/ 1974 h 3668"/>
                <a:gd name="T28" fmla="+- 0 6714 6031"/>
                <a:gd name="T29" fmla="*/ T28 w 1704"/>
                <a:gd name="T30" fmla="+- 0 1981 1266"/>
                <a:gd name="T31" fmla="*/ 1981 h 3668"/>
                <a:gd name="T32" fmla="+- 0 6855 6031"/>
                <a:gd name="T33" fmla="*/ T32 w 1704"/>
                <a:gd name="T34" fmla="+- 0 1943 1266"/>
                <a:gd name="T35" fmla="*/ 1943 h 3668"/>
                <a:gd name="T36" fmla="+- 0 6980 6031"/>
                <a:gd name="T37" fmla="*/ T36 w 1704"/>
                <a:gd name="T38" fmla="+- 0 1863 1266"/>
                <a:gd name="T39" fmla="*/ 1863 h 3668"/>
                <a:gd name="T40" fmla="+- 0 7076 6031"/>
                <a:gd name="T41" fmla="*/ T40 w 1704"/>
                <a:gd name="T42" fmla="+- 0 1744 1266"/>
                <a:gd name="T43" fmla="*/ 1744 h 3668"/>
                <a:gd name="T44" fmla="+- 0 7377 6031"/>
                <a:gd name="T45" fmla="*/ T44 w 1704"/>
                <a:gd name="T46" fmla="+- 0 2336 1266"/>
                <a:gd name="T47" fmla="*/ 2336 h 3668"/>
                <a:gd name="T48" fmla="+- 0 7235 6031"/>
                <a:gd name="T49" fmla="*/ T48 w 1704"/>
                <a:gd name="T50" fmla="+- 0 2383 1266"/>
                <a:gd name="T51" fmla="*/ 2383 h 3668"/>
                <a:gd name="T52" fmla="+- 0 7117 6031"/>
                <a:gd name="T53" fmla="*/ T52 w 1704"/>
                <a:gd name="T54" fmla="+- 0 2470 1266"/>
                <a:gd name="T55" fmla="*/ 2470 h 3668"/>
                <a:gd name="T56" fmla="+- 0 7030 6031"/>
                <a:gd name="T57" fmla="*/ T56 w 1704"/>
                <a:gd name="T58" fmla="+- 0 2588 1266"/>
                <a:gd name="T59" fmla="*/ 2588 h 3668"/>
                <a:gd name="T60" fmla="+- 0 6983 6031"/>
                <a:gd name="T61" fmla="*/ T60 w 1704"/>
                <a:gd name="T62" fmla="+- 0 2730 1266"/>
                <a:gd name="T63" fmla="*/ 2730 h 3668"/>
                <a:gd name="T64" fmla="+- 0 6983 6031"/>
                <a:gd name="T65" fmla="*/ T64 w 1704"/>
                <a:gd name="T66" fmla="+- 0 2885 1266"/>
                <a:gd name="T67" fmla="*/ 2885 h 3668"/>
                <a:gd name="T68" fmla="+- 0 7030 6031"/>
                <a:gd name="T69" fmla="*/ T68 w 1704"/>
                <a:gd name="T70" fmla="+- 0 3027 1266"/>
                <a:gd name="T71" fmla="*/ 3027 h 3668"/>
                <a:gd name="T72" fmla="+- 0 7117 6031"/>
                <a:gd name="T73" fmla="*/ T72 w 1704"/>
                <a:gd name="T74" fmla="+- 0 3145 1266"/>
                <a:gd name="T75" fmla="*/ 3145 h 3668"/>
                <a:gd name="T76" fmla="+- 0 7235 6031"/>
                <a:gd name="T77" fmla="*/ T76 w 1704"/>
                <a:gd name="T78" fmla="+- 0 3232 1266"/>
                <a:gd name="T79" fmla="*/ 3232 h 3668"/>
                <a:gd name="T80" fmla="+- 0 7377 6031"/>
                <a:gd name="T81" fmla="*/ T80 w 1704"/>
                <a:gd name="T82" fmla="+- 0 3279 1266"/>
                <a:gd name="T83" fmla="*/ 3279 h 3668"/>
                <a:gd name="T84" fmla="+- 0 7454 6031"/>
                <a:gd name="T85" fmla="*/ T84 w 1704"/>
                <a:gd name="T86" fmla="+- 0 2330 1266"/>
                <a:gd name="T87" fmla="*/ 2330 h 3668"/>
                <a:gd name="T88" fmla="+- 0 7346 6031"/>
                <a:gd name="T89" fmla="*/ T88 w 1704"/>
                <a:gd name="T90" fmla="+- 0 3715 1266"/>
                <a:gd name="T91" fmla="*/ 3715 h 3668"/>
                <a:gd name="T92" fmla="+- 0 7032 6031"/>
                <a:gd name="T93" fmla="*/ T92 w 1704"/>
                <a:gd name="T94" fmla="+- 0 3828 1266"/>
                <a:gd name="T95" fmla="*/ 3828 h 3668"/>
                <a:gd name="T96" fmla="+- 0 6920 6031"/>
                <a:gd name="T97" fmla="*/ T96 w 1704"/>
                <a:gd name="T98" fmla="+- 0 3729 1266"/>
                <a:gd name="T99" fmla="*/ 3729 h 3668"/>
                <a:gd name="T100" fmla="+- 0 6786 6031"/>
                <a:gd name="T101" fmla="*/ T100 w 1704"/>
                <a:gd name="T102" fmla="+- 0 3670 1266"/>
                <a:gd name="T103" fmla="*/ 3670 h 3668"/>
                <a:gd name="T104" fmla="+- 0 6640 6031"/>
                <a:gd name="T105" fmla="*/ T104 w 1704"/>
                <a:gd name="T106" fmla="+- 0 3654 1266"/>
                <a:gd name="T107" fmla="*/ 3654 h 3668"/>
                <a:gd name="T108" fmla="+- 0 6494 6031"/>
                <a:gd name="T109" fmla="*/ T108 w 1704"/>
                <a:gd name="T110" fmla="+- 0 3684 1266"/>
                <a:gd name="T111" fmla="*/ 3684 h 3668"/>
                <a:gd name="T112" fmla="+- 0 6359 6031"/>
                <a:gd name="T113" fmla="*/ T112 w 1704"/>
                <a:gd name="T114" fmla="+- 0 3762 1266"/>
                <a:gd name="T115" fmla="*/ 3762 h 3668"/>
                <a:gd name="T116" fmla="+- 0 6260 6031"/>
                <a:gd name="T117" fmla="*/ T116 w 1704"/>
                <a:gd name="T118" fmla="+- 0 3873 1266"/>
                <a:gd name="T119" fmla="*/ 3873 h 3668"/>
                <a:gd name="T120" fmla="+- 0 6201 6031"/>
                <a:gd name="T121" fmla="*/ T120 w 1704"/>
                <a:gd name="T122" fmla="+- 0 4008 1266"/>
                <a:gd name="T123" fmla="*/ 4008 h 3668"/>
                <a:gd name="T124" fmla="+- 0 6185 6031"/>
                <a:gd name="T125" fmla="*/ T124 w 1704"/>
                <a:gd name="T126" fmla="+- 0 4153 1266"/>
                <a:gd name="T127" fmla="*/ 4153 h 3668"/>
                <a:gd name="T128" fmla="+- 0 6215 6031"/>
                <a:gd name="T129" fmla="*/ T128 w 1704"/>
                <a:gd name="T130" fmla="+- 0 4300 1266"/>
                <a:gd name="T131" fmla="*/ 4300 h 3668"/>
                <a:gd name="T132" fmla="+- 0 6031 6031"/>
                <a:gd name="T133" fmla="*/ T132 w 1704"/>
                <a:gd name="T134" fmla="+- 0 4474 1266"/>
                <a:gd name="T135" fmla="*/ 4474 h 3668"/>
                <a:gd name="T136" fmla="+- 0 7735 6031"/>
                <a:gd name="T137" fmla="*/ T136 w 1704"/>
                <a:gd name="T138" fmla="+- 0 3950 1266"/>
                <a:gd name="T139" fmla="*/ 3950 h 366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  <a:cxn ang="0">
                  <a:pos x="T101" y="T103"/>
                </a:cxn>
                <a:cxn ang="0">
                  <a:pos x="T105" y="T107"/>
                </a:cxn>
                <a:cxn ang="0">
                  <a:pos x="T109" y="T111"/>
                </a:cxn>
                <a:cxn ang="0">
                  <a:pos x="T113" y="T115"/>
                </a:cxn>
                <a:cxn ang="0">
                  <a:pos x="T117" y="T119"/>
                </a:cxn>
                <a:cxn ang="0">
                  <a:pos x="T121" y="T123"/>
                </a:cxn>
                <a:cxn ang="0">
                  <a:pos x="T125" y="T127"/>
                </a:cxn>
                <a:cxn ang="0">
                  <a:pos x="T129" y="T131"/>
                </a:cxn>
                <a:cxn ang="0">
                  <a:pos x="T133" y="T135"/>
                </a:cxn>
                <a:cxn ang="0">
                  <a:pos x="T137" y="T139"/>
                </a:cxn>
              </a:cxnLst>
              <a:rect l="0" t="0" r="r" b="b"/>
              <a:pathLst>
                <a:path w="1704" h="3668">
                  <a:moveTo>
                    <a:pt x="1045" y="478"/>
                  </a:moveTo>
                  <a:lnTo>
                    <a:pt x="218" y="0"/>
                  </a:lnTo>
                  <a:lnTo>
                    <a:pt x="184" y="71"/>
                  </a:lnTo>
                  <a:lnTo>
                    <a:pt x="163" y="143"/>
                  </a:lnTo>
                  <a:lnTo>
                    <a:pt x="154" y="217"/>
                  </a:lnTo>
                  <a:lnTo>
                    <a:pt x="156" y="291"/>
                  </a:lnTo>
                  <a:lnTo>
                    <a:pt x="170" y="363"/>
                  </a:lnTo>
                  <a:lnTo>
                    <a:pt x="194" y="432"/>
                  </a:lnTo>
                  <a:lnTo>
                    <a:pt x="229" y="497"/>
                  </a:lnTo>
                  <a:lnTo>
                    <a:pt x="274" y="557"/>
                  </a:lnTo>
                  <a:lnTo>
                    <a:pt x="328" y="609"/>
                  </a:lnTo>
                  <a:lnTo>
                    <a:pt x="393" y="653"/>
                  </a:lnTo>
                  <a:lnTo>
                    <a:pt x="463" y="687"/>
                  </a:lnTo>
                  <a:lnTo>
                    <a:pt x="536" y="708"/>
                  </a:lnTo>
                  <a:lnTo>
                    <a:pt x="609" y="717"/>
                  </a:lnTo>
                  <a:lnTo>
                    <a:pt x="683" y="715"/>
                  </a:lnTo>
                  <a:lnTo>
                    <a:pt x="755" y="701"/>
                  </a:lnTo>
                  <a:lnTo>
                    <a:pt x="824" y="677"/>
                  </a:lnTo>
                  <a:lnTo>
                    <a:pt x="889" y="642"/>
                  </a:lnTo>
                  <a:lnTo>
                    <a:pt x="949" y="597"/>
                  </a:lnTo>
                  <a:lnTo>
                    <a:pt x="1001" y="542"/>
                  </a:lnTo>
                  <a:lnTo>
                    <a:pt x="1045" y="478"/>
                  </a:lnTo>
                  <a:close/>
                  <a:moveTo>
                    <a:pt x="1423" y="1064"/>
                  </a:moveTo>
                  <a:lnTo>
                    <a:pt x="1346" y="1070"/>
                  </a:lnTo>
                  <a:lnTo>
                    <a:pt x="1272" y="1088"/>
                  </a:lnTo>
                  <a:lnTo>
                    <a:pt x="1204" y="1117"/>
                  </a:lnTo>
                  <a:lnTo>
                    <a:pt x="1141" y="1156"/>
                  </a:lnTo>
                  <a:lnTo>
                    <a:pt x="1086" y="1204"/>
                  </a:lnTo>
                  <a:lnTo>
                    <a:pt x="1038" y="1260"/>
                  </a:lnTo>
                  <a:lnTo>
                    <a:pt x="999" y="1322"/>
                  </a:lnTo>
                  <a:lnTo>
                    <a:pt x="970" y="1391"/>
                  </a:lnTo>
                  <a:lnTo>
                    <a:pt x="952" y="1464"/>
                  </a:lnTo>
                  <a:lnTo>
                    <a:pt x="946" y="1542"/>
                  </a:lnTo>
                  <a:lnTo>
                    <a:pt x="952" y="1619"/>
                  </a:lnTo>
                  <a:lnTo>
                    <a:pt x="970" y="1693"/>
                  </a:lnTo>
                  <a:lnTo>
                    <a:pt x="999" y="1761"/>
                  </a:lnTo>
                  <a:lnTo>
                    <a:pt x="1038" y="1824"/>
                  </a:lnTo>
                  <a:lnTo>
                    <a:pt x="1086" y="1879"/>
                  </a:lnTo>
                  <a:lnTo>
                    <a:pt x="1141" y="1927"/>
                  </a:lnTo>
                  <a:lnTo>
                    <a:pt x="1204" y="1966"/>
                  </a:lnTo>
                  <a:lnTo>
                    <a:pt x="1272" y="1995"/>
                  </a:lnTo>
                  <a:lnTo>
                    <a:pt x="1346" y="2013"/>
                  </a:lnTo>
                  <a:lnTo>
                    <a:pt x="1423" y="2019"/>
                  </a:lnTo>
                  <a:lnTo>
                    <a:pt x="1423" y="1064"/>
                  </a:lnTo>
                  <a:close/>
                  <a:moveTo>
                    <a:pt x="1704" y="2674"/>
                  </a:moveTo>
                  <a:lnTo>
                    <a:pt x="1315" y="2449"/>
                  </a:lnTo>
                  <a:lnTo>
                    <a:pt x="1035" y="2611"/>
                  </a:lnTo>
                  <a:lnTo>
                    <a:pt x="1001" y="2562"/>
                  </a:lnTo>
                  <a:lnTo>
                    <a:pt x="949" y="2508"/>
                  </a:lnTo>
                  <a:lnTo>
                    <a:pt x="889" y="2463"/>
                  </a:lnTo>
                  <a:lnTo>
                    <a:pt x="824" y="2428"/>
                  </a:lnTo>
                  <a:lnTo>
                    <a:pt x="755" y="2404"/>
                  </a:lnTo>
                  <a:lnTo>
                    <a:pt x="683" y="2390"/>
                  </a:lnTo>
                  <a:lnTo>
                    <a:pt x="609" y="2388"/>
                  </a:lnTo>
                  <a:lnTo>
                    <a:pt x="536" y="2397"/>
                  </a:lnTo>
                  <a:lnTo>
                    <a:pt x="463" y="2418"/>
                  </a:lnTo>
                  <a:lnTo>
                    <a:pt x="392" y="2451"/>
                  </a:lnTo>
                  <a:lnTo>
                    <a:pt x="328" y="2496"/>
                  </a:lnTo>
                  <a:lnTo>
                    <a:pt x="274" y="2548"/>
                  </a:lnTo>
                  <a:lnTo>
                    <a:pt x="229" y="2607"/>
                  </a:lnTo>
                  <a:lnTo>
                    <a:pt x="194" y="2672"/>
                  </a:lnTo>
                  <a:lnTo>
                    <a:pt x="170" y="2742"/>
                  </a:lnTo>
                  <a:lnTo>
                    <a:pt x="156" y="2814"/>
                  </a:lnTo>
                  <a:lnTo>
                    <a:pt x="154" y="2887"/>
                  </a:lnTo>
                  <a:lnTo>
                    <a:pt x="163" y="2961"/>
                  </a:lnTo>
                  <a:lnTo>
                    <a:pt x="184" y="3034"/>
                  </a:lnTo>
                  <a:lnTo>
                    <a:pt x="209" y="3087"/>
                  </a:lnTo>
                  <a:lnTo>
                    <a:pt x="0" y="3208"/>
                  </a:lnTo>
                  <a:lnTo>
                    <a:pt x="0" y="3668"/>
                  </a:lnTo>
                  <a:lnTo>
                    <a:pt x="1704" y="2684"/>
                  </a:lnTo>
                  <a:lnTo>
                    <a:pt x="1704" y="2674"/>
                  </a:ln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3D19F6FA-3A28-26D2-AE73-1D1DE15D575D}"/>
              </a:ext>
            </a:extLst>
          </p:cNvPr>
          <p:cNvSpPr txBox="1"/>
          <p:nvPr/>
        </p:nvSpPr>
        <p:spPr>
          <a:xfrm>
            <a:off x="3243373" y="5284908"/>
            <a:ext cx="2094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1190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Arial MT"/>
                <a:cs typeface="Arial MT"/>
              </a:rPr>
              <a:t>Financial management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578D5A5B-B269-CB3F-874E-903CFFCC6334}"/>
              </a:ext>
            </a:extLst>
          </p:cNvPr>
          <p:cNvSpPr txBox="1"/>
          <p:nvPr/>
        </p:nvSpPr>
        <p:spPr>
          <a:xfrm>
            <a:off x="1443618" y="4953136"/>
            <a:ext cx="135140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1190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1190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Capacity planning and human resource management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E8C8319-7CF5-75AF-AE12-D6034CDAB38E}"/>
              </a:ext>
            </a:extLst>
          </p:cNvPr>
          <p:cNvSpPr txBox="1"/>
          <p:nvPr/>
        </p:nvSpPr>
        <p:spPr>
          <a:xfrm>
            <a:off x="2635027" y="3754202"/>
            <a:ext cx="11604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1190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Healthcare administration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07BB05A-B5F9-E3D1-A245-F3963EC12F11}"/>
              </a:ext>
            </a:extLst>
          </p:cNvPr>
          <p:cNvSpPr txBox="1"/>
          <p:nvPr/>
        </p:nvSpPr>
        <p:spPr>
          <a:xfrm>
            <a:off x="758520" y="3688922"/>
            <a:ext cx="9843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95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Arial MT"/>
                <a:cs typeface="Arial MT"/>
              </a:rPr>
              <a:t>Regulatory and standard compliance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2262F703-0357-18A7-3214-39C866BBA7CA}"/>
              </a:ext>
            </a:extLst>
          </p:cNvPr>
          <p:cNvSpPr txBox="1"/>
          <p:nvPr/>
        </p:nvSpPr>
        <p:spPr>
          <a:xfrm>
            <a:off x="3376295" y="2235704"/>
            <a:ext cx="1713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95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Arial MT"/>
                <a:cs typeface="Arial MT"/>
              </a:rPr>
              <a:t>Supply chain management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0DEE713-3925-CF15-A705-578C2F0600C9}"/>
              </a:ext>
            </a:extLst>
          </p:cNvPr>
          <p:cNvSpPr txBox="1"/>
          <p:nvPr/>
        </p:nvSpPr>
        <p:spPr>
          <a:xfrm>
            <a:off x="1537240" y="2131063"/>
            <a:ext cx="125778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95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Hospital management system, infrastructure and 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9627" y="3587291"/>
            <a:ext cx="115677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Process </a:t>
            </a:r>
            <a:r>
              <a:rPr lang="en-US" sz="1400" dirty="0" smtClean="0"/>
              <a:t>optimization </a:t>
            </a:r>
            <a:r>
              <a:rPr lang="en-US" sz="1400" dirty="0"/>
              <a:t>and quality improvement</a:t>
            </a:r>
          </a:p>
        </p:txBody>
      </p:sp>
    </p:spTree>
    <p:extLst>
      <p:ext uri="{BB962C8B-B14F-4D97-AF65-F5344CB8AC3E}">
        <p14:creationId xmlns:p14="http://schemas.microsoft.com/office/powerpoint/2010/main" val="191286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Various </a:t>
            </a:r>
            <a:r>
              <a:rPr lang="en-US" dirty="0" err="1"/>
              <a:t>S</a:t>
            </a:r>
            <a:r>
              <a:rPr lang="en-US" dirty="0" err="1" smtClean="0"/>
              <a:t>tackholders</a:t>
            </a:r>
            <a:r>
              <a:rPr lang="en-US" dirty="0" smtClean="0"/>
              <a:t> for data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534400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891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76600"/>
            <a:ext cx="3733800" cy="2438400"/>
          </a:xfrm>
        </p:spPr>
        <p:txBody>
          <a:bodyPr>
            <a:normAutofit/>
          </a:bodyPr>
          <a:lstStyle/>
          <a:p>
            <a:r>
              <a:rPr lang="en-US" dirty="0" smtClean="0"/>
              <a:t>Gen AI in budget Management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AF349E8-332A-FD53-EAB0-A66708C0E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800"/>
            <a:ext cx="6477000" cy="29718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xmlns="" id="{D4DA4B9A-BFA8-FB0B-33DD-3D464990C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04392" y="2805227"/>
            <a:ext cx="5109778" cy="4144963"/>
          </a:xfrm>
        </p:spPr>
      </p:pic>
    </p:spTree>
    <p:extLst>
      <p:ext uri="{BB962C8B-B14F-4D97-AF65-F5344CB8AC3E}">
        <p14:creationId xmlns:p14="http://schemas.microsoft.com/office/powerpoint/2010/main" val="385424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0"/>
            <a:ext cx="396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Gen AI in budget </a:t>
            </a:r>
            <a:r>
              <a:rPr lang="en-US" dirty="0" smtClean="0"/>
              <a:t>Prediction for distribution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80A70E7-FFCC-75C2-A477-A7123E03C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533400"/>
            <a:ext cx="4953000" cy="3505200"/>
          </a:xfr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154846"/>
            <a:ext cx="4267200" cy="369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717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-400050"/>
            <a:ext cx="9601200" cy="765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2215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Epidemic </a:t>
            </a:r>
            <a:r>
              <a:rPr lang="en-US" sz="3200" dirty="0"/>
              <a:t>and health </a:t>
            </a:r>
            <a:r>
              <a:rPr lang="en-US" sz="3200" dirty="0" smtClean="0"/>
              <a:t>management-model</a:t>
            </a:r>
            <a:endParaRPr lang="en-US" sz="3200" dirty="0"/>
          </a:p>
        </p:txBody>
      </p:sp>
      <p:pic>
        <p:nvPicPr>
          <p:cNvPr id="4" name="Content Placeholder 3" descr="C:\Users\ABC\Downloads\ChatGPT Image Jun 18, 2025, 12_53_49 AM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" y="1066800"/>
            <a:ext cx="8835788" cy="579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789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20106"/>
            <a:ext cx="8229600" cy="102289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Future prediction for epidemic and health management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600200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 descr="C:\Users\ABC\Desktop\PHD\phdnew\mlnutition\gen ai help in tracking malnutrition ,death,policy - visual selec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02" y="1066801"/>
            <a:ext cx="8305800" cy="563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700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D19B92-372C-FB60-B47E-A78B2BC4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A317045-E732-E4C7-4BB3-2BAB44772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0" y="-31897"/>
            <a:ext cx="6553200" cy="3079898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xmlns="" id="{D3275614-87ED-0876-9CC8-B0EA9E7B3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048000"/>
            <a:ext cx="6172200" cy="297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2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396517-C0DF-6811-71CB-59CC70859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4419598" cy="678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0"/>
            <a:ext cx="3581400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91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Allocation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4"/>
            <a:ext cx="8229600" cy="445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83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230" y="762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External International Submit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ABC\Desktop\PHD\phdnew\dialogwho\Generative AI Driven Virtual Summits &amp; Diplomacy in Indian Healthcare Governance - visual selec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95" y="914400"/>
            <a:ext cx="7408863" cy="5800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174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0" y="274638"/>
            <a:ext cx="29718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Healthcare Diplomacy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266" name="Picture 2" descr="C:\Users\ABC\Desktop\PHD\phdnew\llm\diplomacy\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609600"/>
            <a:ext cx="4328583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8725"/>
            <a:ext cx="88392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200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r>
              <a:rPr lang="en-US" dirty="0" smtClean="0"/>
              <a:t>Educational &amp; marketing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42" name="Picture 2" descr="C:\Users\ABC\Desktop\PHD\phdnew\llm\edumarke\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90" y="1447800"/>
            <a:ext cx="6553200" cy="53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679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-400050"/>
            <a:ext cx="9601200" cy="765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8883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6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Insurance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00200"/>
            <a:ext cx="8229600" cy="45259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 descr="C:\Users\ABC\Desktop\PHD\phdnew\insurance\Gen -AI in Indain govt Insurance policies,claims and premium prediction - visual selec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7378890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691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Insurance -model</a:t>
            </a:r>
            <a:endParaRPr lang="en-US" dirty="0"/>
          </a:p>
        </p:txBody>
      </p:sp>
      <p:pic>
        <p:nvPicPr>
          <p:cNvPr id="5122" name="Picture 2" descr="C:\Users\ABC\Desktop\PHD\phdnew\llm\insu\e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28" y="1600200"/>
            <a:ext cx="6788944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867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1" y="-20150"/>
            <a:ext cx="413935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rgbClr val="000000"/>
                </a:solidFill>
                <a:latin typeface="Calibri"/>
                <a:cs typeface="Calibri"/>
              </a:rPr>
              <a:t>Probable Use cases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6" name="object 27">
            <a:extLst>
              <a:ext uri="{FF2B5EF4-FFF2-40B4-BE49-F238E27FC236}">
                <a16:creationId xmlns="" xmlns:a16="http://schemas.microsoft.com/office/drawing/2014/main" id="{83CF2503-0680-D6CD-8433-E39FF89C22F5}"/>
              </a:ext>
            </a:extLst>
          </p:cNvPr>
          <p:cNvGrpSpPr/>
          <p:nvPr/>
        </p:nvGrpSpPr>
        <p:grpSpPr>
          <a:xfrm>
            <a:off x="56568" y="362012"/>
            <a:ext cx="8912520" cy="5729741"/>
            <a:chOff x="1177470" y="955898"/>
            <a:chExt cx="6281513" cy="4531932"/>
          </a:xfrm>
        </p:grpSpPr>
        <p:pic>
          <p:nvPicPr>
            <p:cNvPr id="7" name="object 28">
              <a:extLst>
                <a:ext uri="{FF2B5EF4-FFF2-40B4-BE49-F238E27FC236}">
                  <a16:creationId xmlns="" xmlns:a16="http://schemas.microsoft.com/office/drawing/2014/main" id="{F8296663-7CF9-F100-F721-52A8C95F7C5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125" y="955898"/>
              <a:ext cx="6168858" cy="662536"/>
            </a:xfrm>
            <a:prstGeom prst="rect">
              <a:avLst/>
            </a:prstGeom>
          </p:spPr>
        </p:pic>
        <p:sp>
          <p:nvSpPr>
            <p:cNvPr id="8" name="object 29">
              <a:extLst>
                <a:ext uri="{FF2B5EF4-FFF2-40B4-BE49-F238E27FC236}">
                  <a16:creationId xmlns="" xmlns:a16="http://schemas.microsoft.com/office/drawing/2014/main" id="{6EC0BD9F-6F99-44BF-4783-4252B3F2D719}"/>
                </a:ext>
              </a:extLst>
            </p:cNvPr>
            <p:cNvSpPr/>
            <p:nvPr/>
          </p:nvSpPr>
          <p:spPr>
            <a:xfrm>
              <a:off x="1177470" y="1486478"/>
              <a:ext cx="111338" cy="4001352"/>
            </a:xfrm>
            <a:custGeom>
              <a:avLst/>
              <a:gdLst/>
              <a:ahLst/>
              <a:cxnLst/>
              <a:rect l="l" t="t" r="r" b="b"/>
              <a:pathLst>
                <a:path w="100964" h="3146425">
                  <a:moveTo>
                    <a:pt x="100964" y="3146425"/>
                  </a:moveTo>
                  <a:lnTo>
                    <a:pt x="635" y="3146425"/>
                  </a:lnTo>
                  <a:lnTo>
                    <a:pt x="0" y="0"/>
                  </a:lnTo>
                  <a:lnTo>
                    <a:pt x="10033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30">
              <a:extLst>
                <a:ext uri="{FF2B5EF4-FFF2-40B4-BE49-F238E27FC236}">
                  <a16:creationId xmlns="" xmlns:a16="http://schemas.microsoft.com/office/drawing/2014/main" id="{60FB8E4C-2456-FD8F-73DC-8DA74B0792A3}"/>
                </a:ext>
              </a:extLst>
            </p:cNvPr>
            <p:cNvSpPr/>
            <p:nvPr/>
          </p:nvSpPr>
          <p:spPr>
            <a:xfrm>
              <a:off x="1863725" y="4551680"/>
              <a:ext cx="40640" cy="61594"/>
            </a:xfrm>
            <a:custGeom>
              <a:avLst/>
              <a:gdLst/>
              <a:ahLst/>
              <a:cxnLst/>
              <a:rect l="l" t="t" r="r" b="b"/>
              <a:pathLst>
                <a:path w="40639" h="61595">
                  <a:moveTo>
                    <a:pt x="0" y="0"/>
                  </a:moveTo>
                  <a:lnTo>
                    <a:pt x="0" y="61595"/>
                  </a:lnTo>
                  <a:lnTo>
                    <a:pt x="40639" y="29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2">
            <a:extLst>
              <a:ext uri="{FF2B5EF4-FFF2-40B4-BE49-F238E27FC236}">
                <a16:creationId xmlns="" xmlns:a16="http://schemas.microsoft.com/office/drawing/2014/main" id="{270481B5-09A5-D564-0D3B-A529143BD2FC}"/>
              </a:ext>
            </a:extLst>
          </p:cNvPr>
          <p:cNvGrpSpPr/>
          <p:nvPr/>
        </p:nvGrpSpPr>
        <p:grpSpPr>
          <a:xfrm>
            <a:off x="27995" y="4705165"/>
            <a:ext cx="3086134" cy="885377"/>
            <a:chOff x="1696212" y="3745864"/>
            <a:chExt cx="1879373" cy="478155"/>
          </a:xfrm>
        </p:grpSpPr>
        <p:sp>
          <p:nvSpPr>
            <p:cNvPr id="15" name="object 3">
              <a:extLst>
                <a:ext uri="{FF2B5EF4-FFF2-40B4-BE49-F238E27FC236}">
                  <a16:creationId xmlns="" xmlns:a16="http://schemas.microsoft.com/office/drawing/2014/main" id="{15FA5E01-F87F-BF25-90D0-3CBDDD0BCCE1}"/>
                </a:ext>
              </a:extLst>
            </p:cNvPr>
            <p:cNvSpPr/>
            <p:nvPr/>
          </p:nvSpPr>
          <p:spPr>
            <a:xfrm>
              <a:off x="2050315" y="3745864"/>
              <a:ext cx="1525270" cy="478155"/>
            </a:xfrm>
            <a:custGeom>
              <a:avLst/>
              <a:gdLst/>
              <a:ahLst/>
              <a:cxnLst/>
              <a:rect l="l" t="t" r="r" b="b"/>
              <a:pathLst>
                <a:path w="1525270" h="478154">
                  <a:moveTo>
                    <a:pt x="1486535" y="0"/>
                  </a:moveTo>
                  <a:lnTo>
                    <a:pt x="38735" y="0"/>
                  </a:lnTo>
                  <a:lnTo>
                    <a:pt x="23495" y="4445"/>
                  </a:lnTo>
                  <a:lnTo>
                    <a:pt x="11430" y="15875"/>
                  </a:lnTo>
                  <a:lnTo>
                    <a:pt x="3175" y="32385"/>
                  </a:lnTo>
                  <a:lnTo>
                    <a:pt x="0" y="52704"/>
                  </a:lnTo>
                  <a:lnTo>
                    <a:pt x="0" y="426085"/>
                  </a:lnTo>
                  <a:lnTo>
                    <a:pt x="3175" y="446405"/>
                  </a:lnTo>
                  <a:lnTo>
                    <a:pt x="11430" y="462915"/>
                  </a:lnTo>
                  <a:lnTo>
                    <a:pt x="24130" y="474345"/>
                  </a:lnTo>
                  <a:lnTo>
                    <a:pt x="38735" y="478155"/>
                  </a:lnTo>
                  <a:lnTo>
                    <a:pt x="1486535" y="478155"/>
                  </a:lnTo>
                  <a:lnTo>
                    <a:pt x="1501139" y="474345"/>
                  </a:lnTo>
                  <a:lnTo>
                    <a:pt x="1513205" y="462915"/>
                  </a:lnTo>
                  <a:lnTo>
                    <a:pt x="1522095" y="446405"/>
                  </a:lnTo>
                  <a:lnTo>
                    <a:pt x="1525270" y="426085"/>
                  </a:lnTo>
                  <a:lnTo>
                    <a:pt x="1525270" y="52704"/>
                  </a:lnTo>
                  <a:lnTo>
                    <a:pt x="1522095" y="31750"/>
                  </a:lnTo>
                  <a:lnTo>
                    <a:pt x="1513839" y="15240"/>
                  </a:lnTo>
                  <a:lnTo>
                    <a:pt x="1501139" y="4445"/>
                  </a:lnTo>
                  <a:lnTo>
                    <a:pt x="1486535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6" name="object 4">
              <a:extLst>
                <a:ext uri="{FF2B5EF4-FFF2-40B4-BE49-F238E27FC236}">
                  <a16:creationId xmlns="" xmlns:a16="http://schemas.microsoft.com/office/drawing/2014/main" id="{63E1A514-39FF-8405-3D64-AB9E31631FB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6120" y="3865879"/>
              <a:ext cx="283844" cy="358140"/>
            </a:xfrm>
            <a:prstGeom prst="rect">
              <a:avLst/>
            </a:prstGeom>
          </p:spPr>
        </p:pic>
        <p:pic>
          <p:nvPicPr>
            <p:cNvPr id="17" name="object 5">
              <a:extLst>
                <a:ext uri="{FF2B5EF4-FFF2-40B4-BE49-F238E27FC236}">
                  <a16:creationId xmlns="" xmlns:a16="http://schemas.microsoft.com/office/drawing/2014/main" id="{B7631947-4B6C-83D9-7523-2D91308904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5690" y="3939539"/>
              <a:ext cx="720090" cy="222250"/>
            </a:xfrm>
            <a:prstGeom prst="rect">
              <a:avLst/>
            </a:prstGeom>
          </p:spPr>
        </p:pic>
        <p:sp>
          <p:nvSpPr>
            <p:cNvPr id="18" name="object 6">
              <a:extLst>
                <a:ext uri="{FF2B5EF4-FFF2-40B4-BE49-F238E27FC236}">
                  <a16:creationId xmlns="" xmlns:a16="http://schemas.microsoft.com/office/drawing/2014/main" id="{D0B974E6-961B-FF15-D2DA-4AF5A03A49EF}"/>
                </a:ext>
              </a:extLst>
            </p:cNvPr>
            <p:cNvSpPr/>
            <p:nvPr/>
          </p:nvSpPr>
          <p:spPr>
            <a:xfrm>
              <a:off x="1696212" y="4022090"/>
              <a:ext cx="198629" cy="45719"/>
            </a:xfrm>
            <a:custGeom>
              <a:avLst/>
              <a:gdLst/>
              <a:ahLst/>
              <a:cxnLst/>
              <a:rect l="l" t="t" r="r" b="b"/>
              <a:pathLst>
                <a:path w="100330">
                  <a:moveTo>
                    <a:pt x="0" y="0"/>
                  </a:moveTo>
                  <a:lnTo>
                    <a:pt x="10032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7">
              <a:extLst>
                <a:ext uri="{FF2B5EF4-FFF2-40B4-BE49-F238E27FC236}">
                  <a16:creationId xmlns="" xmlns:a16="http://schemas.microsoft.com/office/drawing/2014/main" id="{BC3402EE-B695-A0EE-455F-01913F7ADF1E}"/>
                </a:ext>
              </a:extLst>
            </p:cNvPr>
            <p:cNvSpPr/>
            <p:nvPr/>
          </p:nvSpPr>
          <p:spPr>
            <a:xfrm>
              <a:off x="1863725" y="4005645"/>
              <a:ext cx="40640" cy="60960"/>
            </a:xfrm>
            <a:custGeom>
              <a:avLst/>
              <a:gdLst/>
              <a:ahLst/>
              <a:cxnLst/>
              <a:rect l="l" t="t" r="r" b="b"/>
              <a:pathLst>
                <a:path w="40639" h="60960">
                  <a:moveTo>
                    <a:pt x="0" y="0"/>
                  </a:moveTo>
                  <a:lnTo>
                    <a:pt x="0" y="60960"/>
                  </a:lnTo>
                  <a:lnTo>
                    <a:pt x="40639" y="29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0" name="object 8">
            <a:extLst>
              <a:ext uri="{FF2B5EF4-FFF2-40B4-BE49-F238E27FC236}">
                <a16:creationId xmlns="" xmlns:a16="http://schemas.microsoft.com/office/drawing/2014/main" id="{024E54FD-3930-D21E-6931-37E9D87738CD}"/>
              </a:ext>
            </a:extLst>
          </p:cNvPr>
          <p:cNvGrpSpPr/>
          <p:nvPr/>
        </p:nvGrpSpPr>
        <p:grpSpPr>
          <a:xfrm>
            <a:off x="3031729" y="4783743"/>
            <a:ext cx="6112271" cy="833394"/>
            <a:chOff x="3429634" y="3812540"/>
            <a:chExt cx="3131820" cy="478155"/>
          </a:xfrm>
          <a:effectLst>
            <a:outerShdw blurRad="50800" dist="50800" dir="5400000" algn="ctr" rotWithShape="0">
              <a:srgbClr val="FF0000">
                <a:alpha val="29000"/>
              </a:srgbClr>
            </a:outerShdw>
          </a:effectLst>
        </p:grpSpPr>
        <p:sp>
          <p:nvSpPr>
            <p:cNvPr id="21" name="object 9">
              <a:extLst>
                <a:ext uri="{FF2B5EF4-FFF2-40B4-BE49-F238E27FC236}">
                  <a16:creationId xmlns="" xmlns:a16="http://schemas.microsoft.com/office/drawing/2014/main" id="{3B8A668E-9854-FF0B-4E84-D2E4F91C92CD}"/>
                </a:ext>
              </a:extLst>
            </p:cNvPr>
            <p:cNvSpPr/>
            <p:nvPr/>
          </p:nvSpPr>
          <p:spPr>
            <a:xfrm>
              <a:off x="3511549" y="3812540"/>
              <a:ext cx="3049905" cy="478155"/>
            </a:xfrm>
            <a:custGeom>
              <a:avLst/>
              <a:gdLst/>
              <a:ahLst/>
              <a:cxnLst/>
              <a:rect l="l" t="t" r="r" b="b"/>
              <a:pathLst>
                <a:path w="3049904" h="478154">
                  <a:moveTo>
                    <a:pt x="3008629" y="0"/>
                  </a:moveTo>
                  <a:lnTo>
                    <a:pt x="41275" y="0"/>
                  </a:lnTo>
                  <a:lnTo>
                    <a:pt x="25400" y="4444"/>
                  </a:lnTo>
                  <a:lnTo>
                    <a:pt x="12064" y="16509"/>
                  </a:lnTo>
                  <a:lnTo>
                    <a:pt x="3175" y="34289"/>
                  </a:lnTo>
                  <a:lnTo>
                    <a:pt x="0" y="55879"/>
                  </a:lnTo>
                  <a:lnTo>
                    <a:pt x="0" y="422909"/>
                  </a:lnTo>
                  <a:lnTo>
                    <a:pt x="3175" y="444499"/>
                  </a:lnTo>
                  <a:lnTo>
                    <a:pt x="12064" y="462279"/>
                  </a:lnTo>
                  <a:lnTo>
                    <a:pt x="25400" y="474344"/>
                  </a:lnTo>
                  <a:lnTo>
                    <a:pt x="41275" y="478154"/>
                  </a:lnTo>
                  <a:lnTo>
                    <a:pt x="3008629" y="478154"/>
                  </a:lnTo>
                  <a:lnTo>
                    <a:pt x="3024504" y="474344"/>
                  </a:lnTo>
                  <a:lnTo>
                    <a:pt x="3037840" y="462279"/>
                  </a:lnTo>
                  <a:lnTo>
                    <a:pt x="3046729" y="444499"/>
                  </a:lnTo>
                  <a:lnTo>
                    <a:pt x="3049904" y="422909"/>
                  </a:lnTo>
                  <a:lnTo>
                    <a:pt x="3049904" y="55879"/>
                  </a:lnTo>
                  <a:lnTo>
                    <a:pt x="3046729" y="34289"/>
                  </a:lnTo>
                  <a:lnTo>
                    <a:pt x="3037840" y="16509"/>
                  </a:lnTo>
                  <a:lnTo>
                    <a:pt x="3024504" y="4444"/>
                  </a:lnTo>
                  <a:lnTo>
                    <a:pt x="3008629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object 10">
              <a:extLst>
                <a:ext uri="{FF2B5EF4-FFF2-40B4-BE49-F238E27FC236}">
                  <a16:creationId xmlns="" xmlns:a16="http://schemas.microsoft.com/office/drawing/2014/main" id="{E5BBF7A6-F3B0-8DF0-F991-27024FDCACF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3789" y="3863975"/>
              <a:ext cx="113029" cy="214629"/>
            </a:xfrm>
            <a:prstGeom prst="rect">
              <a:avLst/>
            </a:prstGeom>
          </p:spPr>
        </p:pic>
        <p:sp>
          <p:nvSpPr>
            <p:cNvPr id="23" name="object 11">
              <a:extLst>
                <a:ext uri="{FF2B5EF4-FFF2-40B4-BE49-F238E27FC236}">
                  <a16:creationId xmlns="" xmlns:a16="http://schemas.microsoft.com/office/drawing/2014/main" id="{30D0D7C3-6940-273A-EB43-3BB2FA16FB8B}"/>
                </a:ext>
              </a:extLst>
            </p:cNvPr>
            <p:cNvSpPr/>
            <p:nvPr/>
          </p:nvSpPr>
          <p:spPr>
            <a:xfrm>
              <a:off x="3564254" y="4003040"/>
              <a:ext cx="290830" cy="227965"/>
            </a:xfrm>
            <a:custGeom>
              <a:avLst/>
              <a:gdLst/>
              <a:ahLst/>
              <a:cxnLst/>
              <a:rect l="l" t="t" r="r" b="b"/>
              <a:pathLst>
                <a:path w="290829" h="227964">
                  <a:moveTo>
                    <a:pt x="40640" y="0"/>
                  </a:moveTo>
                  <a:lnTo>
                    <a:pt x="38100" y="2539"/>
                  </a:lnTo>
                  <a:lnTo>
                    <a:pt x="37465" y="5714"/>
                  </a:lnTo>
                  <a:lnTo>
                    <a:pt x="635" y="220344"/>
                  </a:lnTo>
                  <a:lnTo>
                    <a:pt x="0" y="222884"/>
                  </a:lnTo>
                  <a:lnTo>
                    <a:pt x="1905" y="226694"/>
                  </a:lnTo>
                  <a:lnTo>
                    <a:pt x="3810" y="227964"/>
                  </a:lnTo>
                  <a:lnTo>
                    <a:pt x="288925" y="227964"/>
                  </a:lnTo>
                  <a:lnTo>
                    <a:pt x="290830" y="224789"/>
                  </a:lnTo>
                  <a:lnTo>
                    <a:pt x="290830" y="220344"/>
                  </a:lnTo>
                  <a:lnTo>
                    <a:pt x="290195" y="215264"/>
                  </a:lnTo>
                  <a:lnTo>
                    <a:pt x="165100" y="215264"/>
                  </a:lnTo>
                  <a:lnTo>
                    <a:pt x="165100" y="214629"/>
                  </a:lnTo>
                  <a:lnTo>
                    <a:pt x="10795" y="214629"/>
                  </a:lnTo>
                  <a:lnTo>
                    <a:pt x="27305" y="120014"/>
                  </a:lnTo>
                  <a:lnTo>
                    <a:pt x="172720" y="120014"/>
                  </a:lnTo>
                  <a:lnTo>
                    <a:pt x="173990" y="117475"/>
                  </a:lnTo>
                  <a:lnTo>
                    <a:pt x="173990" y="107950"/>
                  </a:lnTo>
                  <a:lnTo>
                    <a:pt x="30480" y="107950"/>
                  </a:lnTo>
                  <a:lnTo>
                    <a:pt x="46990" y="13334"/>
                  </a:lnTo>
                  <a:lnTo>
                    <a:pt x="99695" y="13334"/>
                  </a:lnTo>
                  <a:lnTo>
                    <a:pt x="99695" y="1269"/>
                  </a:lnTo>
                  <a:lnTo>
                    <a:pt x="43180" y="1269"/>
                  </a:lnTo>
                  <a:lnTo>
                    <a:pt x="40640" y="0"/>
                  </a:lnTo>
                  <a:close/>
                </a:path>
                <a:path w="290829" h="227964">
                  <a:moveTo>
                    <a:pt x="267970" y="88900"/>
                  </a:moveTo>
                  <a:lnTo>
                    <a:pt x="258445" y="88900"/>
                  </a:lnTo>
                  <a:lnTo>
                    <a:pt x="280670" y="215264"/>
                  </a:lnTo>
                  <a:lnTo>
                    <a:pt x="280670" y="160654"/>
                  </a:lnTo>
                  <a:lnTo>
                    <a:pt x="267970" y="88900"/>
                  </a:lnTo>
                  <a:close/>
                </a:path>
                <a:path w="290829" h="227964">
                  <a:moveTo>
                    <a:pt x="280670" y="160654"/>
                  </a:moveTo>
                  <a:lnTo>
                    <a:pt x="280670" y="215264"/>
                  </a:lnTo>
                  <a:lnTo>
                    <a:pt x="290195" y="215264"/>
                  </a:lnTo>
                  <a:lnTo>
                    <a:pt x="280670" y="160654"/>
                  </a:lnTo>
                  <a:close/>
                </a:path>
                <a:path w="290829" h="227964">
                  <a:moveTo>
                    <a:pt x="162560" y="159384"/>
                  </a:moveTo>
                  <a:lnTo>
                    <a:pt x="154305" y="159384"/>
                  </a:lnTo>
                  <a:lnTo>
                    <a:pt x="154305" y="214629"/>
                  </a:lnTo>
                  <a:lnTo>
                    <a:pt x="165100" y="214629"/>
                  </a:lnTo>
                  <a:lnTo>
                    <a:pt x="165100" y="161289"/>
                  </a:lnTo>
                  <a:lnTo>
                    <a:pt x="162560" y="159384"/>
                  </a:lnTo>
                  <a:close/>
                </a:path>
                <a:path w="290829" h="227964">
                  <a:moveTo>
                    <a:pt x="135890" y="189864"/>
                  </a:moveTo>
                  <a:lnTo>
                    <a:pt x="127000" y="189864"/>
                  </a:lnTo>
                  <a:lnTo>
                    <a:pt x="127000" y="202564"/>
                  </a:lnTo>
                  <a:lnTo>
                    <a:pt x="135890" y="202564"/>
                  </a:lnTo>
                  <a:lnTo>
                    <a:pt x="135890" y="189864"/>
                  </a:lnTo>
                  <a:close/>
                </a:path>
                <a:path w="290829" h="227964">
                  <a:moveTo>
                    <a:pt x="234315" y="189864"/>
                  </a:moveTo>
                  <a:lnTo>
                    <a:pt x="224790" y="189864"/>
                  </a:lnTo>
                  <a:lnTo>
                    <a:pt x="224790" y="202564"/>
                  </a:lnTo>
                  <a:lnTo>
                    <a:pt x="234315" y="202564"/>
                  </a:lnTo>
                  <a:lnTo>
                    <a:pt x="234315" y="189864"/>
                  </a:lnTo>
                  <a:close/>
                </a:path>
                <a:path w="290829" h="227964">
                  <a:moveTo>
                    <a:pt x="267335" y="189864"/>
                  </a:moveTo>
                  <a:lnTo>
                    <a:pt x="258445" y="189864"/>
                  </a:lnTo>
                  <a:lnTo>
                    <a:pt x="258445" y="202564"/>
                  </a:lnTo>
                  <a:lnTo>
                    <a:pt x="267335" y="202564"/>
                  </a:lnTo>
                  <a:lnTo>
                    <a:pt x="267335" y="189864"/>
                  </a:lnTo>
                  <a:close/>
                </a:path>
                <a:path w="290829" h="227964">
                  <a:moveTo>
                    <a:pt x="37465" y="183514"/>
                  </a:moveTo>
                  <a:lnTo>
                    <a:pt x="28575" y="183514"/>
                  </a:lnTo>
                  <a:lnTo>
                    <a:pt x="28575" y="196214"/>
                  </a:lnTo>
                  <a:lnTo>
                    <a:pt x="37465" y="196214"/>
                  </a:lnTo>
                  <a:lnTo>
                    <a:pt x="37465" y="183514"/>
                  </a:lnTo>
                  <a:close/>
                </a:path>
                <a:path w="290829" h="227964">
                  <a:moveTo>
                    <a:pt x="102870" y="177164"/>
                  </a:moveTo>
                  <a:lnTo>
                    <a:pt x="93980" y="177164"/>
                  </a:lnTo>
                  <a:lnTo>
                    <a:pt x="93980" y="189229"/>
                  </a:lnTo>
                  <a:lnTo>
                    <a:pt x="102870" y="189229"/>
                  </a:lnTo>
                  <a:lnTo>
                    <a:pt x="102870" y="177164"/>
                  </a:lnTo>
                  <a:close/>
                </a:path>
                <a:path w="290829" h="227964">
                  <a:moveTo>
                    <a:pt x="205740" y="170814"/>
                  </a:moveTo>
                  <a:lnTo>
                    <a:pt x="196850" y="170814"/>
                  </a:lnTo>
                  <a:lnTo>
                    <a:pt x="196850" y="182879"/>
                  </a:lnTo>
                  <a:lnTo>
                    <a:pt x="205740" y="182879"/>
                  </a:lnTo>
                  <a:lnTo>
                    <a:pt x="205740" y="170814"/>
                  </a:lnTo>
                  <a:close/>
                </a:path>
                <a:path w="290829" h="227964">
                  <a:moveTo>
                    <a:pt x="252730" y="164464"/>
                  </a:moveTo>
                  <a:lnTo>
                    <a:pt x="243840" y="164464"/>
                  </a:lnTo>
                  <a:lnTo>
                    <a:pt x="243840" y="177164"/>
                  </a:lnTo>
                  <a:lnTo>
                    <a:pt x="252730" y="177164"/>
                  </a:lnTo>
                  <a:lnTo>
                    <a:pt x="252730" y="164464"/>
                  </a:lnTo>
                  <a:close/>
                </a:path>
                <a:path w="290829" h="227964">
                  <a:moveTo>
                    <a:pt x="70485" y="158114"/>
                  </a:moveTo>
                  <a:lnTo>
                    <a:pt x="60960" y="158114"/>
                  </a:lnTo>
                  <a:lnTo>
                    <a:pt x="60960" y="170814"/>
                  </a:lnTo>
                  <a:lnTo>
                    <a:pt x="70485" y="170814"/>
                  </a:lnTo>
                  <a:lnTo>
                    <a:pt x="70485" y="158114"/>
                  </a:lnTo>
                  <a:close/>
                </a:path>
                <a:path w="290829" h="227964">
                  <a:moveTo>
                    <a:pt x="172720" y="120014"/>
                  </a:moveTo>
                  <a:lnTo>
                    <a:pt x="117475" y="120014"/>
                  </a:lnTo>
                  <a:lnTo>
                    <a:pt x="117475" y="168275"/>
                  </a:lnTo>
                  <a:lnTo>
                    <a:pt x="119380" y="170814"/>
                  </a:lnTo>
                  <a:lnTo>
                    <a:pt x="154305" y="170814"/>
                  </a:lnTo>
                  <a:lnTo>
                    <a:pt x="154305" y="159384"/>
                  </a:lnTo>
                  <a:lnTo>
                    <a:pt x="127635" y="159384"/>
                  </a:lnTo>
                  <a:lnTo>
                    <a:pt x="127635" y="120650"/>
                  </a:lnTo>
                  <a:lnTo>
                    <a:pt x="172085" y="120650"/>
                  </a:lnTo>
                  <a:lnTo>
                    <a:pt x="172720" y="120014"/>
                  </a:lnTo>
                  <a:close/>
                </a:path>
                <a:path w="290829" h="227964">
                  <a:moveTo>
                    <a:pt x="229235" y="152400"/>
                  </a:moveTo>
                  <a:lnTo>
                    <a:pt x="220345" y="152400"/>
                  </a:lnTo>
                  <a:lnTo>
                    <a:pt x="220345" y="164464"/>
                  </a:lnTo>
                  <a:lnTo>
                    <a:pt x="229235" y="164464"/>
                  </a:lnTo>
                  <a:lnTo>
                    <a:pt x="229235" y="152400"/>
                  </a:lnTo>
                  <a:close/>
                </a:path>
                <a:path w="290829" h="227964">
                  <a:moveTo>
                    <a:pt x="187960" y="139064"/>
                  </a:moveTo>
                  <a:lnTo>
                    <a:pt x="178435" y="139064"/>
                  </a:lnTo>
                  <a:lnTo>
                    <a:pt x="178435" y="151129"/>
                  </a:lnTo>
                  <a:lnTo>
                    <a:pt x="187960" y="151129"/>
                  </a:lnTo>
                  <a:lnTo>
                    <a:pt x="187960" y="139064"/>
                  </a:lnTo>
                  <a:close/>
                </a:path>
                <a:path w="290829" h="227964">
                  <a:moveTo>
                    <a:pt x="51435" y="132714"/>
                  </a:moveTo>
                  <a:lnTo>
                    <a:pt x="42545" y="132714"/>
                  </a:lnTo>
                  <a:lnTo>
                    <a:pt x="42545" y="145414"/>
                  </a:lnTo>
                  <a:lnTo>
                    <a:pt x="51435" y="145414"/>
                  </a:lnTo>
                  <a:lnTo>
                    <a:pt x="51435" y="132714"/>
                  </a:lnTo>
                  <a:close/>
                </a:path>
                <a:path w="290829" h="227964">
                  <a:moveTo>
                    <a:pt x="257810" y="132714"/>
                  </a:moveTo>
                  <a:lnTo>
                    <a:pt x="248285" y="132714"/>
                  </a:lnTo>
                  <a:lnTo>
                    <a:pt x="248285" y="145414"/>
                  </a:lnTo>
                  <a:lnTo>
                    <a:pt x="257810" y="145414"/>
                  </a:lnTo>
                  <a:lnTo>
                    <a:pt x="257810" y="132714"/>
                  </a:lnTo>
                  <a:close/>
                </a:path>
                <a:path w="290829" h="227964">
                  <a:moveTo>
                    <a:pt x="210820" y="127000"/>
                  </a:moveTo>
                  <a:lnTo>
                    <a:pt x="201295" y="127000"/>
                  </a:lnTo>
                  <a:lnTo>
                    <a:pt x="201295" y="139064"/>
                  </a:lnTo>
                  <a:lnTo>
                    <a:pt x="210820" y="139064"/>
                  </a:lnTo>
                  <a:lnTo>
                    <a:pt x="210820" y="127000"/>
                  </a:lnTo>
                  <a:close/>
                </a:path>
                <a:path w="290829" h="227964">
                  <a:moveTo>
                    <a:pt x="239395" y="114300"/>
                  </a:moveTo>
                  <a:lnTo>
                    <a:pt x="229870" y="114300"/>
                  </a:lnTo>
                  <a:lnTo>
                    <a:pt x="229870" y="127000"/>
                  </a:lnTo>
                  <a:lnTo>
                    <a:pt x="239395" y="127000"/>
                  </a:lnTo>
                  <a:lnTo>
                    <a:pt x="239395" y="114300"/>
                  </a:lnTo>
                  <a:close/>
                </a:path>
                <a:path w="290829" h="227964">
                  <a:moveTo>
                    <a:pt x="201295" y="100964"/>
                  </a:moveTo>
                  <a:lnTo>
                    <a:pt x="192405" y="100964"/>
                  </a:lnTo>
                  <a:lnTo>
                    <a:pt x="192405" y="113664"/>
                  </a:lnTo>
                  <a:lnTo>
                    <a:pt x="201295" y="113664"/>
                  </a:lnTo>
                  <a:lnTo>
                    <a:pt x="201295" y="100964"/>
                  </a:lnTo>
                  <a:close/>
                </a:path>
                <a:path w="290829" h="227964">
                  <a:moveTo>
                    <a:pt x="251460" y="1269"/>
                  </a:moveTo>
                  <a:lnTo>
                    <a:pt x="193040" y="1269"/>
                  </a:lnTo>
                  <a:lnTo>
                    <a:pt x="193040" y="13334"/>
                  </a:lnTo>
                  <a:lnTo>
                    <a:pt x="245745" y="13334"/>
                  </a:lnTo>
                  <a:lnTo>
                    <a:pt x="256540" y="76834"/>
                  </a:lnTo>
                  <a:lnTo>
                    <a:pt x="166370" y="76834"/>
                  </a:lnTo>
                  <a:lnTo>
                    <a:pt x="165100" y="79375"/>
                  </a:lnTo>
                  <a:lnTo>
                    <a:pt x="165100" y="107950"/>
                  </a:lnTo>
                  <a:lnTo>
                    <a:pt x="173990" y="107950"/>
                  </a:lnTo>
                  <a:lnTo>
                    <a:pt x="173990" y="88900"/>
                  </a:lnTo>
                  <a:lnTo>
                    <a:pt x="267970" y="88900"/>
                  </a:lnTo>
                  <a:lnTo>
                    <a:pt x="253365" y="5714"/>
                  </a:lnTo>
                  <a:lnTo>
                    <a:pt x="252730" y="2539"/>
                  </a:lnTo>
                  <a:lnTo>
                    <a:pt x="251460" y="1269"/>
                  </a:lnTo>
                  <a:close/>
                </a:path>
                <a:path w="290829" h="227964">
                  <a:moveTo>
                    <a:pt x="60960" y="75564"/>
                  </a:moveTo>
                  <a:lnTo>
                    <a:pt x="52070" y="75564"/>
                  </a:lnTo>
                  <a:lnTo>
                    <a:pt x="52070" y="88264"/>
                  </a:lnTo>
                  <a:lnTo>
                    <a:pt x="60960" y="88264"/>
                  </a:lnTo>
                  <a:lnTo>
                    <a:pt x="60960" y="75564"/>
                  </a:lnTo>
                  <a:close/>
                </a:path>
                <a:path w="290829" h="227964">
                  <a:moveTo>
                    <a:pt x="93980" y="57150"/>
                  </a:moveTo>
                  <a:lnTo>
                    <a:pt x="84455" y="57150"/>
                  </a:lnTo>
                  <a:lnTo>
                    <a:pt x="84455" y="69850"/>
                  </a:lnTo>
                  <a:lnTo>
                    <a:pt x="93980" y="69850"/>
                  </a:lnTo>
                  <a:lnTo>
                    <a:pt x="93980" y="57150"/>
                  </a:lnTo>
                  <a:close/>
                </a:path>
                <a:path w="290829" h="227964">
                  <a:moveTo>
                    <a:pt x="70485" y="50800"/>
                  </a:moveTo>
                  <a:lnTo>
                    <a:pt x="60960" y="50800"/>
                  </a:lnTo>
                  <a:lnTo>
                    <a:pt x="60960" y="63500"/>
                  </a:lnTo>
                  <a:lnTo>
                    <a:pt x="70485" y="63500"/>
                  </a:lnTo>
                  <a:lnTo>
                    <a:pt x="70485" y="50800"/>
                  </a:lnTo>
                  <a:close/>
                </a:path>
                <a:path w="290829" h="227964">
                  <a:moveTo>
                    <a:pt x="210820" y="38100"/>
                  </a:moveTo>
                  <a:lnTo>
                    <a:pt x="201295" y="38100"/>
                  </a:lnTo>
                  <a:lnTo>
                    <a:pt x="201295" y="50164"/>
                  </a:lnTo>
                  <a:lnTo>
                    <a:pt x="210820" y="50164"/>
                  </a:lnTo>
                  <a:lnTo>
                    <a:pt x="210820" y="38100"/>
                  </a:lnTo>
                  <a:close/>
                </a:path>
                <a:path w="290829" h="227964">
                  <a:moveTo>
                    <a:pt x="84455" y="31750"/>
                  </a:moveTo>
                  <a:lnTo>
                    <a:pt x="75565" y="31750"/>
                  </a:lnTo>
                  <a:lnTo>
                    <a:pt x="75565" y="44450"/>
                  </a:lnTo>
                  <a:lnTo>
                    <a:pt x="84455" y="44450"/>
                  </a:lnTo>
                  <a:lnTo>
                    <a:pt x="84455" y="31750"/>
                  </a:lnTo>
                  <a:close/>
                </a:path>
                <a:path w="290829" h="227964">
                  <a:moveTo>
                    <a:pt x="234315" y="25400"/>
                  </a:moveTo>
                  <a:lnTo>
                    <a:pt x="224790" y="25400"/>
                  </a:lnTo>
                  <a:lnTo>
                    <a:pt x="224790" y="38100"/>
                  </a:lnTo>
                  <a:lnTo>
                    <a:pt x="234315" y="38100"/>
                  </a:lnTo>
                  <a:lnTo>
                    <a:pt x="234315" y="25400"/>
                  </a:lnTo>
                  <a:close/>
                </a:path>
                <a:path w="290829" h="227964">
                  <a:moveTo>
                    <a:pt x="60960" y="19684"/>
                  </a:moveTo>
                  <a:lnTo>
                    <a:pt x="52070" y="19684"/>
                  </a:lnTo>
                  <a:lnTo>
                    <a:pt x="52070" y="31750"/>
                  </a:lnTo>
                  <a:lnTo>
                    <a:pt x="60960" y="31750"/>
                  </a:lnTo>
                  <a:lnTo>
                    <a:pt x="60960" y="19684"/>
                  </a:lnTo>
                  <a:close/>
                </a:path>
              </a:pathLst>
            </a:custGeom>
            <a:solidFill>
              <a:srgbClr val="1B52F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24" name="object 12">
              <a:extLst>
                <a:ext uri="{FF2B5EF4-FFF2-40B4-BE49-F238E27FC236}">
                  <a16:creationId xmlns="" xmlns:a16="http://schemas.microsoft.com/office/drawing/2014/main" id="{B65A469A-4FF9-8D95-AC6B-B806775B3BA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05249" y="3867150"/>
              <a:ext cx="2326004" cy="367664"/>
            </a:xfrm>
            <a:prstGeom prst="rect">
              <a:avLst/>
            </a:prstGeom>
          </p:spPr>
        </p:pic>
        <p:sp>
          <p:nvSpPr>
            <p:cNvPr id="25" name="object 13">
              <a:extLst>
                <a:ext uri="{FF2B5EF4-FFF2-40B4-BE49-F238E27FC236}">
                  <a16:creationId xmlns="" xmlns:a16="http://schemas.microsoft.com/office/drawing/2014/main" id="{6879DEED-2F5E-46A5-8898-DB2318F65E39}"/>
                </a:ext>
              </a:extLst>
            </p:cNvPr>
            <p:cNvSpPr/>
            <p:nvPr/>
          </p:nvSpPr>
          <p:spPr>
            <a:xfrm>
              <a:off x="3429634" y="4051935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4">
                  <a:moveTo>
                    <a:pt x="0" y="0"/>
                  </a:moveTo>
                  <a:lnTo>
                    <a:pt x="7175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14">
              <a:extLst>
                <a:ext uri="{FF2B5EF4-FFF2-40B4-BE49-F238E27FC236}">
                  <a16:creationId xmlns="" xmlns:a16="http://schemas.microsoft.com/office/drawing/2014/main" id="{D8A8D711-4060-817F-AF90-FB72014B6449}"/>
                </a:ext>
              </a:extLst>
            </p:cNvPr>
            <p:cNvSpPr/>
            <p:nvPr/>
          </p:nvSpPr>
          <p:spPr>
            <a:xfrm>
              <a:off x="3470274" y="4020820"/>
              <a:ext cx="41275" cy="61594"/>
            </a:xfrm>
            <a:custGeom>
              <a:avLst/>
              <a:gdLst/>
              <a:ahLst/>
              <a:cxnLst/>
              <a:rect l="l" t="t" r="r" b="b"/>
              <a:pathLst>
                <a:path w="41275" h="61595">
                  <a:moveTo>
                    <a:pt x="0" y="0"/>
                  </a:moveTo>
                  <a:lnTo>
                    <a:pt x="0" y="61595"/>
                  </a:lnTo>
                  <a:lnTo>
                    <a:pt x="41275" y="29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7" name="object 15">
            <a:extLst>
              <a:ext uri="{FF2B5EF4-FFF2-40B4-BE49-F238E27FC236}">
                <a16:creationId xmlns="" xmlns:a16="http://schemas.microsoft.com/office/drawing/2014/main" id="{83A7BCCC-5F8F-585D-5A1E-95C27DEC865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570" y="5492419"/>
            <a:ext cx="3111841" cy="804521"/>
          </a:xfrm>
          <a:prstGeom prst="rect">
            <a:avLst/>
          </a:prstGeom>
        </p:spPr>
      </p:pic>
      <p:grpSp>
        <p:nvGrpSpPr>
          <p:cNvPr id="28" name="object 16">
            <a:extLst>
              <a:ext uri="{FF2B5EF4-FFF2-40B4-BE49-F238E27FC236}">
                <a16:creationId xmlns="" xmlns:a16="http://schemas.microsoft.com/office/drawing/2014/main" id="{B916477C-B915-A24B-80B2-29840650EDAA}"/>
              </a:ext>
            </a:extLst>
          </p:cNvPr>
          <p:cNvGrpSpPr/>
          <p:nvPr/>
        </p:nvGrpSpPr>
        <p:grpSpPr>
          <a:xfrm>
            <a:off x="2206360" y="5492419"/>
            <a:ext cx="6937640" cy="831121"/>
            <a:chOff x="3430270" y="4344670"/>
            <a:chExt cx="3131185" cy="478155"/>
          </a:xfrm>
        </p:grpSpPr>
        <p:pic>
          <p:nvPicPr>
            <p:cNvPr id="29" name="object 17">
              <a:extLst>
                <a:ext uri="{FF2B5EF4-FFF2-40B4-BE49-F238E27FC236}">
                  <a16:creationId xmlns="" xmlns:a16="http://schemas.microsoft.com/office/drawing/2014/main" id="{A4352941-F969-0739-24A0-8B5DA73CDC1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11550" y="4344670"/>
              <a:ext cx="3049904" cy="478154"/>
            </a:xfrm>
            <a:prstGeom prst="rect">
              <a:avLst/>
            </a:prstGeom>
          </p:spPr>
        </p:pic>
        <p:pic>
          <p:nvPicPr>
            <p:cNvPr id="30" name="object 18">
              <a:extLst>
                <a:ext uri="{FF2B5EF4-FFF2-40B4-BE49-F238E27FC236}">
                  <a16:creationId xmlns="" xmlns:a16="http://schemas.microsoft.com/office/drawing/2014/main" id="{9E1591FE-8C60-C0E1-248B-19041004C96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01720" y="4416425"/>
              <a:ext cx="210820" cy="273050"/>
            </a:xfrm>
            <a:prstGeom prst="rect">
              <a:avLst/>
            </a:prstGeom>
          </p:spPr>
        </p:pic>
        <p:pic>
          <p:nvPicPr>
            <p:cNvPr id="31" name="object 19">
              <a:extLst>
                <a:ext uri="{FF2B5EF4-FFF2-40B4-BE49-F238E27FC236}">
                  <a16:creationId xmlns="" xmlns:a16="http://schemas.microsoft.com/office/drawing/2014/main" id="{A8F68072-46F2-EEA2-647C-7F1AA4F1E80B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73015" y="4403090"/>
              <a:ext cx="280035" cy="349250"/>
            </a:xfrm>
            <a:prstGeom prst="rect">
              <a:avLst/>
            </a:prstGeom>
          </p:spPr>
        </p:pic>
        <p:sp>
          <p:nvSpPr>
            <p:cNvPr id="32" name="object 20">
              <a:extLst>
                <a:ext uri="{FF2B5EF4-FFF2-40B4-BE49-F238E27FC236}">
                  <a16:creationId xmlns="" xmlns:a16="http://schemas.microsoft.com/office/drawing/2014/main" id="{17FA133A-4771-706C-53EB-A52AAE1E0331}"/>
                </a:ext>
              </a:extLst>
            </p:cNvPr>
            <p:cNvSpPr/>
            <p:nvPr/>
          </p:nvSpPr>
          <p:spPr>
            <a:xfrm>
              <a:off x="3430270" y="4591050"/>
              <a:ext cx="71120" cy="0"/>
            </a:xfrm>
            <a:custGeom>
              <a:avLst/>
              <a:gdLst/>
              <a:ahLst/>
              <a:cxnLst/>
              <a:rect l="l" t="t" r="r" b="b"/>
              <a:pathLst>
                <a:path w="71120">
                  <a:moveTo>
                    <a:pt x="0" y="0"/>
                  </a:moveTo>
                  <a:lnTo>
                    <a:pt x="7111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object 21">
              <a:extLst>
                <a:ext uri="{FF2B5EF4-FFF2-40B4-BE49-F238E27FC236}">
                  <a16:creationId xmlns="" xmlns:a16="http://schemas.microsoft.com/office/drawing/2014/main" id="{3CED0F70-8292-73BB-E4B1-929DFED2AFF0}"/>
                </a:ext>
              </a:extLst>
            </p:cNvPr>
            <p:cNvSpPr/>
            <p:nvPr/>
          </p:nvSpPr>
          <p:spPr>
            <a:xfrm>
              <a:off x="3470275" y="4559935"/>
              <a:ext cx="41275" cy="62230"/>
            </a:xfrm>
            <a:custGeom>
              <a:avLst/>
              <a:gdLst/>
              <a:ahLst/>
              <a:cxnLst/>
              <a:rect l="l" t="t" r="r" b="b"/>
              <a:pathLst>
                <a:path w="41275" h="62229">
                  <a:moveTo>
                    <a:pt x="0" y="0"/>
                  </a:moveTo>
                  <a:lnTo>
                    <a:pt x="0" y="62229"/>
                  </a:lnTo>
                  <a:lnTo>
                    <a:pt x="41275" y="298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34" name="object 22">
            <a:extLst>
              <a:ext uri="{FF2B5EF4-FFF2-40B4-BE49-F238E27FC236}">
                <a16:creationId xmlns="" xmlns:a16="http://schemas.microsoft.com/office/drawing/2014/main" id="{4FE04979-83D3-9D8D-F41D-14D90995313C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-152650" y="3953689"/>
            <a:ext cx="9296650" cy="751475"/>
          </a:xfrm>
          <a:prstGeom prst="rect">
            <a:avLst/>
          </a:prstGeom>
        </p:spPr>
      </p:pic>
      <p:grpSp>
        <p:nvGrpSpPr>
          <p:cNvPr id="35" name="object 23">
            <a:extLst>
              <a:ext uri="{FF2B5EF4-FFF2-40B4-BE49-F238E27FC236}">
                <a16:creationId xmlns="" xmlns:a16="http://schemas.microsoft.com/office/drawing/2014/main" id="{C2FB7FCF-5253-E96E-EDF3-E172EBFBA4BD}"/>
              </a:ext>
            </a:extLst>
          </p:cNvPr>
          <p:cNvGrpSpPr/>
          <p:nvPr/>
        </p:nvGrpSpPr>
        <p:grpSpPr>
          <a:xfrm>
            <a:off x="-61971" y="1487861"/>
            <a:ext cx="9091673" cy="2589484"/>
            <a:chOff x="681860" y="1304173"/>
            <a:chExt cx="7056032" cy="2310769"/>
          </a:xfrm>
        </p:grpSpPr>
        <p:pic>
          <p:nvPicPr>
            <p:cNvPr id="36" name="object 24">
              <a:extLst>
                <a:ext uri="{FF2B5EF4-FFF2-40B4-BE49-F238E27FC236}">
                  <a16:creationId xmlns="" xmlns:a16="http://schemas.microsoft.com/office/drawing/2014/main" id="{C2A264A0-0C11-6E98-FA6F-62BA50DD5B7A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1860" y="1304173"/>
              <a:ext cx="7041468" cy="818949"/>
            </a:xfrm>
            <a:prstGeom prst="rect">
              <a:avLst/>
            </a:prstGeom>
          </p:spPr>
        </p:pic>
        <p:pic>
          <p:nvPicPr>
            <p:cNvPr id="37" name="object 25">
              <a:extLst>
                <a:ext uri="{FF2B5EF4-FFF2-40B4-BE49-F238E27FC236}">
                  <a16:creationId xmlns="" xmlns:a16="http://schemas.microsoft.com/office/drawing/2014/main" id="{301C1AF3-6F53-8559-CFC9-E98F28B3FB40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8492" y="2230753"/>
              <a:ext cx="6994836" cy="679231"/>
            </a:xfrm>
            <a:prstGeom prst="rect">
              <a:avLst/>
            </a:prstGeom>
          </p:spPr>
        </p:pic>
        <p:pic>
          <p:nvPicPr>
            <p:cNvPr id="38" name="object 26">
              <a:extLst>
                <a:ext uri="{FF2B5EF4-FFF2-40B4-BE49-F238E27FC236}">
                  <a16:creationId xmlns="" xmlns:a16="http://schemas.microsoft.com/office/drawing/2014/main" id="{19707F68-E24A-35FF-7A2B-07A33A236399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6423" y="2717729"/>
              <a:ext cx="7041469" cy="897213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71E71AC7-58E5-2287-1C4B-6253F59F4E2B}"/>
              </a:ext>
            </a:extLst>
          </p:cNvPr>
          <p:cNvSpPr txBox="1"/>
          <p:nvPr/>
        </p:nvSpPr>
        <p:spPr>
          <a:xfrm>
            <a:off x="2151534" y="6486061"/>
            <a:ext cx="64784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Times New Roman"/>
                <a:cs typeface="Times New Roman"/>
              </a:rPr>
              <a:t>Building</a:t>
            </a:r>
            <a:r>
              <a:rPr lang="en-US" sz="1400" b="1" spc="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Efficiencies</a:t>
            </a:r>
            <a:r>
              <a:rPr lang="en-US" sz="1400" b="1" spc="-1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in</a:t>
            </a:r>
            <a:r>
              <a:rPr lang="en-US" sz="1400" b="1" spc="-1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Indian</a:t>
            </a:r>
            <a:r>
              <a:rPr lang="en-US" sz="1400" b="1" spc="-1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Healthcare</a:t>
            </a:r>
            <a:r>
              <a:rPr lang="en-US" sz="1400" b="1" spc="45" dirty="0"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latin typeface="Times New Roman"/>
                <a:cs typeface="Times New Roman"/>
              </a:rPr>
              <a:t>System </a:t>
            </a:r>
            <a:r>
              <a:rPr lang="en-US" sz="1400" b="1" dirty="0">
                <a:latin typeface="Times New Roman"/>
                <a:cs typeface="Times New Roman"/>
              </a:rPr>
              <a:t>Leveraging</a:t>
            </a:r>
            <a:r>
              <a:rPr lang="en-US" sz="1400" b="1" spc="2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Generative</a:t>
            </a:r>
            <a:r>
              <a:rPr lang="en-US" sz="1400" b="1" spc="7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AI </a:t>
            </a:r>
            <a:r>
              <a:rPr lang="en-US" sz="1400" b="1" spc="-10" dirty="0">
                <a:latin typeface="Times New Roman"/>
                <a:cs typeface="Times New Roman"/>
              </a:rPr>
              <a:t>Techniques</a:t>
            </a:r>
            <a:endParaRPr lang="en-US"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6671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534400" cy="7921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Training and implementation cost State wise</a:t>
            </a:r>
            <a:endParaRPr 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14400"/>
            <a:ext cx="8610600" cy="4501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86200"/>
            <a:ext cx="718185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5629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Estimated Budget -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718185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2854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ABC\Desktop\PHD\phdnew\IntlProfilesGovernance_2020_Indi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3" y="-585788"/>
            <a:ext cx="9086849" cy="802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64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4"/>
            <a:ext cx="8229600" cy="4525963"/>
          </a:xfrm>
        </p:spPr>
        <p:txBody>
          <a:bodyPr>
            <a:normAutofit/>
          </a:bodyPr>
          <a:lstStyle/>
          <a:p>
            <a:pPr marL="624840">
              <a:spcBef>
                <a:spcPts val="465"/>
              </a:spcBef>
            </a:pPr>
            <a:r>
              <a:rPr lang="en-US" sz="1700" dirty="0">
                <a:latin typeface="Arial MT"/>
                <a:ea typeface="Arial MT"/>
                <a:cs typeface="Arial MT"/>
              </a:rPr>
              <a:t>The</a:t>
            </a:r>
            <a:r>
              <a:rPr lang="en-US" sz="1700" spc="-50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Government</a:t>
            </a:r>
            <a:r>
              <a:rPr lang="en-US" sz="1700" spc="-5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of</a:t>
            </a:r>
            <a:r>
              <a:rPr lang="en-US" sz="1700" spc="-4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India</a:t>
            </a:r>
            <a:r>
              <a:rPr lang="en-US" sz="1700" spc="-2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(</a:t>
            </a:r>
            <a:r>
              <a:rPr lang="en-US" sz="1700" dirty="0" err="1">
                <a:latin typeface="Arial MT"/>
                <a:ea typeface="Arial MT"/>
                <a:cs typeface="Arial MT"/>
              </a:rPr>
              <a:t>GoI</a:t>
            </a:r>
            <a:r>
              <a:rPr lang="en-US" sz="1700" dirty="0">
                <a:latin typeface="Arial MT"/>
                <a:ea typeface="Arial MT"/>
                <a:cs typeface="Arial MT"/>
              </a:rPr>
              <a:t>)</a:t>
            </a:r>
            <a:r>
              <a:rPr lang="en-US" sz="1700" spc="-40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has</a:t>
            </a:r>
            <a:r>
              <a:rPr lang="en-US" sz="1700" spc="-40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laid</a:t>
            </a:r>
            <a:r>
              <a:rPr lang="en-US" sz="1700" spc="-2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out</a:t>
            </a:r>
            <a:r>
              <a:rPr lang="en-US" sz="1700" spc="-3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several</a:t>
            </a:r>
            <a:r>
              <a:rPr lang="en-US" sz="1700" spc="-2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initiatives</a:t>
            </a:r>
            <a:r>
              <a:rPr lang="en-US" sz="1700" spc="-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to</a:t>
            </a:r>
            <a:r>
              <a:rPr lang="en-US" sz="1700" spc="-3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promote</a:t>
            </a:r>
            <a:r>
              <a:rPr lang="en-US" sz="1700" spc="-5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and</a:t>
            </a:r>
            <a:r>
              <a:rPr lang="en-US" sz="1700" spc="-50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develop</a:t>
            </a:r>
            <a:r>
              <a:rPr lang="en-US" sz="1700" spc="-2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AI</a:t>
            </a:r>
            <a:r>
              <a:rPr lang="en-US" sz="1700" spc="-3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in</a:t>
            </a:r>
            <a:r>
              <a:rPr lang="en-US" sz="1700" spc="-3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India,</a:t>
            </a:r>
            <a:r>
              <a:rPr lang="en-US" sz="1700" spc="-30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including:</a:t>
            </a:r>
            <a:endParaRPr lang="en-IN" sz="1700" dirty="0">
              <a:latin typeface="Arial MT"/>
              <a:ea typeface="Arial MT"/>
              <a:cs typeface="Arial MT"/>
            </a:endParaRPr>
          </a:p>
          <a:p>
            <a:pPr>
              <a:spcBef>
                <a:spcPts val="10"/>
              </a:spcBef>
            </a:pPr>
            <a:r>
              <a:rPr lang="en-US" sz="1700" dirty="0">
                <a:latin typeface="Arial MT"/>
                <a:ea typeface="Arial MT"/>
                <a:cs typeface="Arial MT"/>
              </a:rPr>
              <a:t> </a:t>
            </a:r>
            <a:endParaRPr lang="en-IN" sz="1700" dirty="0">
              <a:latin typeface="Arial MT"/>
              <a:ea typeface="Arial MT"/>
              <a:cs typeface="Arial MT"/>
            </a:endParaRPr>
          </a:p>
          <a:p>
            <a:pPr lvl="0">
              <a:buSzPts val="1000"/>
              <a:buFont typeface="Arial MT"/>
              <a:buChar char="•"/>
              <a:tabLst>
                <a:tab pos="855345" algn="l"/>
                <a:tab pos="855980" algn="l"/>
              </a:tabLst>
            </a:pPr>
            <a:r>
              <a:rPr lang="en-US" sz="1700" dirty="0">
                <a:latin typeface="Arial MT"/>
                <a:ea typeface="Arial MT"/>
                <a:cs typeface="Arial MT"/>
              </a:rPr>
              <a:t>National</a:t>
            </a:r>
            <a:r>
              <a:rPr lang="en-US" sz="1700" spc="-2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Strategy</a:t>
            </a:r>
            <a:r>
              <a:rPr lang="en-US" sz="1700" spc="-3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for</a:t>
            </a:r>
            <a:r>
              <a:rPr lang="en-US" sz="1700" spc="-40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AI</a:t>
            </a:r>
            <a:r>
              <a:rPr lang="en-US" sz="1700" spc="-30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(2018)    </a:t>
            </a:r>
            <a:r>
              <a:rPr lang="en-US" sz="1700" dirty="0" err="1">
                <a:latin typeface="Arial MT"/>
                <a:ea typeface="Arial MT"/>
                <a:cs typeface="Arial MT"/>
              </a:rPr>
              <a:t>Pg</a:t>
            </a:r>
            <a:r>
              <a:rPr lang="en-US" sz="1700" dirty="0">
                <a:latin typeface="Arial MT"/>
                <a:ea typeface="Arial MT"/>
                <a:cs typeface="Arial MT"/>
              </a:rPr>
              <a:t> 13</a:t>
            </a:r>
            <a:endParaRPr lang="en-IN" sz="1700" dirty="0">
              <a:latin typeface="Arial MT"/>
              <a:ea typeface="Arial MT"/>
              <a:cs typeface="Arial MT"/>
            </a:endParaRPr>
          </a:p>
          <a:p>
            <a:pPr>
              <a:spcBef>
                <a:spcPts val="25"/>
              </a:spcBef>
            </a:pPr>
            <a:r>
              <a:rPr lang="en-US" sz="1700" dirty="0">
                <a:latin typeface="Arial MT"/>
                <a:ea typeface="Arial MT"/>
                <a:cs typeface="Arial MT"/>
              </a:rPr>
              <a:t> </a:t>
            </a:r>
            <a:endParaRPr lang="en-IN" sz="1700" dirty="0">
              <a:latin typeface="Arial MT"/>
              <a:ea typeface="Arial MT"/>
              <a:cs typeface="Arial MT"/>
            </a:endParaRPr>
          </a:p>
          <a:p>
            <a:pPr lvl="0">
              <a:buSzPts val="1000"/>
              <a:buFont typeface="Arial MT"/>
              <a:buChar char="•"/>
              <a:tabLst>
                <a:tab pos="855345" algn="l"/>
                <a:tab pos="855980" algn="l"/>
              </a:tabLst>
            </a:pPr>
            <a:r>
              <a:rPr lang="en-US" sz="1700" dirty="0">
                <a:latin typeface="Arial MT"/>
                <a:ea typeface="Arial MT"/>
                <a:cs typeface="Arial MT"/>
              </a:rPr>
              <a:t>Principles</a:t>
            </a:r>
            <a:r>
              <a:rPr lang="en-US" sz="1700" spc="-2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of</a:t>
            </a:r>
            <a:r>
              <a:rPr lang="en-US" sz="1700" spc="-3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Responsible</a:t>
            </a:r>
            <a:r>
              <a:rPr lang="en-US" sz="1700" spc="-40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AI</a:t>
            </a:r>
            <a:r>
              <a:rPr lang="en-US" sz="1700" spc="-3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(2021)</a:t>
            </a:r>
            <a:endParaRPr lang="en-IN" sz="1700" dirty="0">
              <a:latin typeface="Arial MT"/>
              <a:ea typeface="Arial MT"/>
              <a:cs typeface="Arial MT"/>
            </a:endParaRPr>
          </a:p>
          <a:p>
            <a:pPr>
              <a:spcBef>
                <a:spcPts val="10"/>
              </a:spcBef>
            </a:pPr>
            <a:r>
              <a:rPr lang="en-US" sz="1700" dirty="0">
                <a:latin typeface="Arial MT"/>
                <a:ea typeface="Arial MT"/>
                <a:cs typeface="Arial MT"/>
              </a:rPr>
              <a:t> </a:t>
            </a:r>
            <a:endParaRPr lang="en-IN" sz="1700" dirty="0">
              <a:latin typeface="Arial MT"/>
              <a:ea typeface="Arial MT"/>
              <a:cs typeface="Arial MT"/>
            </a:endParaRPr>
          </a:p>
          <a:p>
            <a:pPr lvl="0">
              <a:buSzPts val="1000"/>
              <a:buFont typeface="Arial MT"/>
              <a:buChar char="•"/>
              <a:tabLst>
                <a:tab pos="855345" algn="l"/>
                <a:tab pos="855980" algn="l"/>
              </a:tabLst>
            </a:pPr>
            <a:r>
              <a:rPr lang="en-US" sz="1700" dirty="0">
                <a:latin typeface="Arial MT"/>
                <a:ea typeface="Arial MT"/>
                <a:cs typeface="Arial MT"/>
              </a:rPr>
              <a:t>National</a:t>
            </a:r>
            <a:r>
              <a:rPr lang="en-US" sz="1700" spc="-30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AI</a:t>
            </a:r>
            <a:r>
              <a:rPr lang="en-US" sz="1700" spc="-3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Mission</a:t>
            </a:r>
            <a:r>
              <a:rPr lang="en-US" sz="1700" spc="-2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under</a:t>
            </a:r>
            <a:r>
              <a:rPr lang="en-US" sz="1700" spc="-25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PM-STIAC</a:t>
            </a:r>
            <a:r>
              <a:rPr lang="en-US" sz="1700" spc="-20" dirty="0">
                <a:latin typeface="Arial MT"/>
                <a:ea typeface="Arial MT"/>
                <a:cs typeface="Arial MT"/>
              </a:rPr>
              <a:t> </a:t>
            </a:r>
            <a:r>
              <a:rPr lang="en-US" sz="1700" dirty="0">
                <a:latin typeface="Arial MT"/>
                <a:ea typeface="Arial MT"/>
                <a:cs typeface="Arial MT"/>
              </a:rPr>
              <a:t>(2022).</a:t>
            </a:r>
          </a:p>
          <a:p>
            <a:pPr lvl="0">
              <a:buSzPts val="1000"/>
              <a:buFont typeface="Arial MT"/>
              <a:buChar char="•"/>
              <a:tabLst>
                <a:tab pos="855345" algn="l"/>
                <a:tab pos="855980" algn="l"/>
              </a:tabLst>
            </a:pPr>
            <a:endParaRPr lang="en-US" sz="1700" dirty="0">
              <a:latin typeface="Arial MT"/>
              <a:ea typeface="Arial MT"/>
              <a:cs typeface="Arial MT"/>
            </a:endParaRPr>
          </a:p>
          <a:p>
            <a:pPr lvl="0" algn="ctr">
              <a:buSzPts val="1000"/>
              <a:tabLst>
                <a:tab pos="855345" algn="l"/>
                <a:tab pos="855980" algn="l"/>
              </a:tabLst>
            </a:pPr>
            <a:r>
              <a:rPr lang="en-US" sz="1700" dirty="0" err="1"/>
              <a:t>Ayushman</a:t>
            </a:r>
            <a:r>
              <a:rPr lang="en-US" sz="1700" spc="-35" dirty="0"/>
              <a:t> </a:t>
            </a:r>
            <a:r>
              <a:rPr lang="en-US" sz="1700" dirty="0"/>
              <a:t>Bharat</a:t>
            </a:r>
            <a:r>
              <a:rPr lang="en-US" sz="1700" spc="-55" dirty="0"/>
              <a:t> </a:t>
            </a:r>
            <a:r>
              <a:rPr lang="en-US" sz="1700" dirty="0"/>
              <a:t>Health</a:t>
            </a:r>
            <a:r>
              <a:rPr lang="en-US" sz="1700" spc="-35" dirty="0"/>
              <a:t> </a:t>
            </a:r>
            <a:r>
              <a:rPr lang="en-US" sz="1700" dirty="0"/>
              <a:t>Account</a:t>
            </a:r>
            <a:r>
              <a:rPr lang="en-US" sz="1700" spc="-50" dirty="0"/>
              <a:t> </a:t>
            </a:r>
            <a:endParaRPr lang="en-US" sz="1700" dirty="0">
              <a:latin typeface="Arial MT"/>
              <a:ea typeface="Arial MT"/>
              <a:cs typeface="Arial MT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074B5D98-E490-2E0A-5DBD-8083AC211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975784"/>
              </p:ext>
            </p:extLst>
          </p:nvPr>
        </p:nvGraphicFramePr>
        <p:xfrm>
          <a:off x="1447801" y="3581400"/>
          <a:ext cx="6296660" cy="22567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431925">
                  <a:extLst>
                    <a:ext uri="{9D8B030D-6E8A-4147-A177-3AD203B41FA5}">
                      <a16:colId xmlns="" xmlns:a16="http://schemas.microsoft.com/office/drawing/2014/main" val="2403404101"/>
                    </a:ext>
                  </a:extLst>
                </a:gridCol>
                <a:gridCol w="2637155">
                  <a:extLst>
                    <a:ext uri="{9D8B030D-6E8A-4147-A177-3AD203B41FA5}">
                      <a16:colId xmlns="" xmlns:a16="http://schemas.microsoft.com/office/drawing/2014/main" val="4174855182"/>
                    </a:ext>
                  </a:extLst>
                </a:gridCol>
                <a:gridCol w="2227580">
                  <a:extLst>
                    <a:ext uri="{9D8B030D-6E8A-4147-A177-3AD203B41FA5}">
                      <a16:colId xmlns="" xmlns:a16="http://schemas.microsoft.com/office/drawing/2014/main" val="2249931626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89535">
                        <a:spcBef>
                          <a:spcPts val="365"/>
                        </a:spcBef>
                      </a:pPr>
                      <a:r>
                        <a:rPr lang="en-US" sz="1000" dirty="0" err="1" smtClean="0">
                          <a:effectLst/>
                        </a:rPr>
                        <a:t>Milestoner</a:t>
                      </a:r>
                      <a:endParaRPr lang="en-IN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65"/>
                        </a:spcBef>
                      </a:pPr>
                      <a:r>
                        <a:rPr lang="en-US" sz="1000" dirty="0">
                          <a:effectLst/>
                        </a:rPr>
                        <a:t>Milestone</a:t>
                      </a:r>
                      <a:r>
                        <a:rPr lang="en-US" sz="1000" spc="-6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description</a:t>
                      </a:r>
                      <a:endParaRPr lang="en-IN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spcBef>
                          <a:spcPts val="365"/>
                        </a:spcBef>
                      </a:pPr>
                      <a:r>
                        <a:rPr lang="en-US" sz="1000">
                          <a:effectLst/>
                        </a:rPr>
                        <a:t>Healthcare</a:t>
                      </a:r>
                      <a:r>
                        <a:rPr lang="en-US" sz="1000" spc="-3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use</a:t>
                      </a:r>
                      <a:r>
                        <a:rPr lang="en-US" sz="1000" spc="-5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case</a:t>
                      </a:r>
                      <a:endParaRPr lang="en-IN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2838356675"/>
                  </a:ext>
                </a:extLst>
              </a:tr>
              <a:tr h="564515">
                <a:tc>
                  <a:txBody>
                    <a:bodyPr/>
                    <a:lstStyle/>
                    <a:p>
                      <a:pPr marL="89535">
                        <a:spcBef>
                          <a:spcPts val="365"/>
                        </a:spcBef>
                      </a:pPr>
                      <a:r>
                        <a:rPr lang="en-US" sz="1000" dirty="0">
                          <a:effectLst/>
                        </a:rPr>
                        <a:t>Milestone</a:t>
                      </a:r>
                      <a:r>
                        <a:rPr lang="en-US" sz="1000" spc="-4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1</a:t>
                      </a:r>
                      <a:r>
                        <a:rPr lang="en-US" sz="1000" spc="-1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(M1)</a:t>
                      </a:r>
                      <a:endParaRPr lang="en-IN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marR="182880" algn="just">
                        <a:lnSpc>
                          <a:spcPct val="111000"/>
                        </a:lnSpc>
                        <a:spcBef>
                          <a:spcPts val="365"/>
                        </a:spcBef>
                      </a:pPr>
                      <a:r>
                        <a:rPr lang="en-US" sz="1000" dirty="0">
                          <a:effectLst/>
                        </a:rPr>
                        <a:t>This milestone involves creating a verified</a:t>
                      </a:r>
                      <a:r>
                        <a:rPr lang="en-US" sz="1000" spc="-26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Ayushman</a:t>
                      </a:r>
                      <a:r>
                        <a:rPr lang="en-US" sz="1000" spc="-3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Bharat</a:t>
                      </a:r>
                      <a:r>
                        <a:rPr lang="en-US" sz="1000" spc="-5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Health</a:t>
                      </a:r>
                      <a:r>
                        <a:rPr lang="en-US" sz="1000" spc="-3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Account</a:t>
                      </a:r>
                      <a:r>
                        <a:rPr lang="en-US" sz="1000" spc="-5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(ABHA)</a:t>
                      </a:r>
                      <a:r>
                        <a:rPr lang="en-US" sz="1000" spc="-26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during</a:t>
                      </a:r>
                      <a:r>
                        <a:rPr lang="en-US" sz="1000" spc="-1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patient</a:t>
                      </a:r>
                      <a:r>
                        <a:rPr lang="en-US" sz="1000" spc="-1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registration.</a:t>
                      </a:r>
                      <a:endParaRPr lang="en-IN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5"/>
                        </a:spcBef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</a:endParaRPr>
                    </a:p>
                    <a:p>
                      <a:pPr marL="3810" algn="ctr">
                        <a:spcBef>
                          <a:spcPts val="5"/>
                        </a:spcBef>
                      </a:pPr>
                      <a:r>
                        <a:rPr lang="en-US" sz="1000" dirty="0">
                          <a:effectLst/>
                        </a:rPr>
                        <a:t>-</a:t>
                      </a:r>
                      <a:endParaRPr lang="en-IN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2476535653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marL="89535">
                        <a:spcBef>
                          <a:spcPts val="365"/>
                        </a:spcBef>
                      </a:pPr>
                      <a:r>
                        <a:rPr lang="en-US" sz="1000">
                          <a:effectLst/>
                        </a:rPr>
                        <a:t>Milestone</a:t>
                      </a:r>
                      <a:r>
                        <a:rPr lang="en-US" sz="1000" spc="-4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2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(M2)</a:t>
                      </a:r>
                      <a:endParaRPr lang="en-IN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marR="205740">
                        <a:lnSpc>
                          <a:spcPct val="111000"/>
                        </a:lnSpc>
                        <a:spcBef>
                          <a:spcPts val="365"/>
                        </a:spcBef>
                      </a:pPr>
                      <a:r>
                        <a:rPr lang="en-US" sz="1000">
                          <a:effectLst/>
                        </a:rPr>
                        <a:t>This milestone involves linking a patient’s</a:t>
                      </a:r>
                      <a:r>
                        <a:rPr lang="en-US" sz="1000" spc="-26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health</a:t>
                      </a:r>
                      <a:r>
                        <a:rPr lang="en-US" sz="1000" spc="-4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records</a:t>
                      </a:r>
                      <a:r>
                        <a:rPr lang="en-US" sz="1000" spc="-4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with</a:t>
                      </a:r>
                      <a:r>
                        <a:rPr lang="en-US" sz="1000" spc="-2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the</a:t>
                      </a:r>
                      <a:r>
                        <a:rPr lang="en-US" sz="1000" spc="-5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ABHA</a:t>
                      </a:r>
                      <a:r>
                        <a:rPr lang="en-US" sz="1000" spc="-3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ID,</a:t>
                      </a:r>
                      <a:r>
                        <a:rPr lang="en-US" sz="1000" spc="-4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allowing</a:t>
                      </a:r>
                      <a:r>
                        <a:rPr lang="en-US" sz="1000" spc="-26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the patient to access their own health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records</a:t>
                      </a:r>
                      <a:endParaRPr lang="en-IN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marR="172085">
                        <a:lnSpc>
                          <a:spcPct val="111000"/>
                        </a:lnSpc>
                        <a:spcBef>
                          <a:spcPts val="365"/>
                        </a:spcBef>
                      </a:pPr>
                      <a:r>
                        <a:rPr lang="en-US" sz="1000">
                          <a:effectLst/>
                        </a:rPr>
                        <a:t>GenAI can help in summarising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longitudinal</a:t>
                      </a:r>
                      <a:r>
                        <a:rPr lang="en-US" sz="1000" spc="-3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health</a:t>
                      </a:r>
                      <a:r>
                        <a:rPr lang="en-US" sz="1000" spc="-4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records</a:t>
                      </a:r>
                      <a:r>
                        <a:rPr lang="en-US" sz="1000" spc="-5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for</a:t>
                      </a:r>
                      <a:r>
                        <a:rPr lang="en-US" sz="1000" spc="-6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easy</a:t>
                      </a:r>
                      <a:r>
                        <a:rPr lang="en-US" sz="1000" spc="-26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consumption</a:t>
                      </a:r>
                      <a:r>
                        <a:rPr lang="en-US" sz="1000" spc="-3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and</a:t>
                      </a:r>
                      <a:r>
                        <a:rPr lang="en-US" sz="1000" spc="-2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real-time</a:t>
                      </a:r>
                      <a:endParaRPr lang="en-IN" sz="1100">
                        <a:effectLst/>
                      </a:endParaRPr>
                    </a:p>
                    <a:p>
                      <a:pPr marL="89535">
                        <a:lnSpc>
                          <a:spcPts val="1140"/>
                        </a:lnSpc>
                      </a:pPr>
                      <a:r>
                        <a:rPr lang="en-US" sz="1000">
                          <a:effectLst/>
                        </a:rPr>
                        <a:t>insights</a:t>
                      </a:r>
                      <a:r>
                        <a:rPr lang="en-US" sz="1000" spc="22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for</a:t>
                      </a:r>
                      <a:r>
                        <a:rPr lang="en-US" sz="1000" spc="-3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patients.</a:t>
                      </a:r>
                      <a:endParaRPr lang="en-IN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53458995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marL="89535">
                        <a:spcBef>
                          <a:spcPts val="360"/>
                        </a:spcBef>
                      </a:pPr>
                      <a:r>
                        <a:rPr lang="en-US" sz="1000">
                          <a:effectLst/>
                        </a:rPr>
                        <a:t>Milestone</a:t>
                      </a:r>
                      <a:r>
                        <a:rPr lang="en-US" sz="1000" spc="-4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3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(M3)</a:t>
                      </a:r>
                      <a:endParaRPr lang="en-IN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marR="63500">
                        <a:lnSpc>
                          <a:spcPct val="111000"/>
                        </a:lnSpc>
                        <a:spcBef>
                          <a:spcPts val="360"/>
                        </a:spcBef>
                      </a:pPr>
                      <a:r>
                        <a:rPr lang="en-US" sz="1000">
                          <a:effectLst/>
                        </a:rPr>
                        <a:t>This milestone involves developing health</a:t>
                      </a:r>
                      <a:r>
                        <a:rPr lang="en-US" sz="1000" spc="-26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information user (HIU) services that can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enable</a:t>
                      </a:r>
                      <a:r>
                        <a:rPr lang="en-US" sz="1000" spc="-4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viewing</a:t>
                      </a:r>
                      <a:r>
                        <a:rPr lang="en-US" sz="1000" spc="-1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of</a:t>
                      </a:r>
                      <a:r>
                        <a:rPr lang="en-US" sz="1000" spc="-5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a</a:t>
                      </a:r>
                      <a:r>
                        <a:rPr lang="en-US" sz="1000" spc="-4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patient’s</a:t>
                      </a:r>
                      <a:r>
                        <a:rPr lang="en-US" sz="1000" spc="-2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health</a:t>
                      </a:r>
                      <a:r>
                        <a:rPr lang="en-US" sz="1000" spc="-5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history</a:t>
                      </a:r>
                      <a:r>
                        <a:rPr lang="en-US" sz="1000" spc="-26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by</a:t>
                      </a:r>
                      <a:r>
                        <a:rPr lang="en-US" sz="1000" spc="-1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healthcare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personnel.</a:t>
                      </a:r>
                      <a:endParaRPr lang="en-IN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marR="232410">
                        <a:lnSpc>
                          <a:spcPct val="111000"/>
                        </a:lnSpc>
                        <a:spcBef>
                          <a:spcPts val="360"/>
                        </a:spcBef>
                      </a:pPr>
                      <a:r>
                        <a:rPr lang="en-US" sz="1000" dirty="0" err="1">
                          <a:effectLst/>
                        </a:rPr>
                        <a:t>GenAI</a:t>
                      </a:r>
                      <a:r>
                        <a:rPr lang="en-US" sz="1000" dirty="0">
                          <a:effectLst/>
                        </a:rPr>
                        <a:t> can help in selectively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obfuscating</a:t>
                      </a:r>
                      <a:r>
                        <a:rPr lang="en-US" sz="1000" spc="-6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patient</a:t>
                      </a:r>
                      <a:r>
                        <a:rPr lang="en-US" sz="1000" spc="-4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data</a:t>
                      </a:r>
                      <a:r>
                        <a:rPr lang="en-US" sz="1000" spc="-5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when</a:t>
                      </a:r>
                      <a:r>
                        <a:rPr lang="en-US" sz="1000" spc="-3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it</a:t>
                      </a:r>
                      <a:r>
                        <a:rPr lang="en-US" sz="1000" spc="-3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is</a:t>
                      </a:r>
                      <a:r>
                        <a:rPr lang="en-US" sz="1000" spc="-26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shared</a:t>
                      </a:r>
                      <a:r>
                        <a:rPr lang="en-US" sz="1000" spc="-5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across</a:t>
                      </a:r>
                      <a:r>
                        <a:rPr lang="en-US" sz="1000" spc="-4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health</a:t>
                      </a:r>
                      <a:r>
                        <a:rPr lang="en-US" sz="1000" spc="-3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institutions.</a:t>
                      </a:r>
                      <a:endParaRPr lang="en-IN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6637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28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9089260"/>
              </p:ext>
            </p:extLst>
          </p:nvPr>
        </p:nvGraphicFramePr>
        <p:xfrm>
          <a:off x="13648" y="457200"/>
          <a:ext cx="8993878" cy="548639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00266"/>
                <a:gridCol w="1000266"/>
                <a:gridCol w="1000266"/>
                <a:gridCol w="1000266"/>
                <a:gridCol w="999699"/>
                <a:gridCol w="999699"/>
                <a:gridCol w="999699"/>
                <a:gridCol w="999699"/>
                <a:gridCol w="994018"/>
              </a:tblGrid>
              <a:tr h="212495">
                <a:tc>
                  <a:txBody>
                    <a:bodyPr/>
                    <a:lstStyle/>
                    <a:p>
                      <a:pPr marL="193675" marR="0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Parameter</a:t>
                      </a:r>
                      <a:endParaRPr lang="en-US" sz="7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3365" marR="0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ChatGPT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5740" marR="0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DeepSeek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0515" marR="0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Gemini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 algn="ctr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Grok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03530" marR="0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Copilot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0515" marR="0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Claude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4445" algn="ctr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Meta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1925" marR="0">
                        <a:lnSpc>
                          <a:spcPts val="13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Conclusion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0458">
                <a:tc>
                  <a:txBody>
                    <a:bodyPr/>
                    <a:lstStyle/>
                    <a:p>
                      <a:pPr marL="69850" marR="217805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Forecasting Accuracy</a:t>
                      </a:r>
                      <a:endParaRPr lang="en-US" sz="7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6032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Uses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historical data</a:t>
                      </a:r>
                      <a:r>
                        <a:rPr lang="en-US" sz="700" spc="-5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to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provide reliable financial forecasts.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9652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Excels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deep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data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analysis,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producing highly accurate financial projections.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11303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Integrates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real-time</a:t>
                      </a:r>
                      <a:r>
                        <a:rPr lang="en-US" sz="700" spc="-1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data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</a:t>
                      </a:r>
                      <a:r>
                        <a:rPr lang="en-US" sz="700" spc="-7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dynamic and</a:t>
                      </a:r>
                      <a:r>
                        <a:rPr lang="en-US" sz="700" spc="-7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precise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forecasting.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10287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Processes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large</a:t>
                      </a:r>
                      <a:r>
                        <a:rPr lang="en-US" sz="700" spc="-13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datasets for</a:t>
                      </a:r>
                      <a:r>
                        <a:rPr lang="en-US" sz="700" spc="-14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immediate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predictions.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8953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Not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specifically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designed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forecasting.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Focuses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on ethical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responsible financial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forecasting.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24828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Provides reliable</a:t>
                      </a:r>
                      <a:r>
                        <a:rPr lang="en-US" sz="700" spc="-13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but generalized financial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forecasting.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5715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DeepSeek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Gemini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are superior</a:t>
                      </a:r>
                      <a:r>
                        <a:rPr lang="en-US" sz="700" spc="-7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forecasting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due to their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advanced</a:t>
                      </a:r>
                      <a:r>
                        <a:rPr lang="en-US" sz="700" spc="-11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data analysis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  <a:p>
                      <a:pPr marL="69850" marR="0">
                        <a:lnSpc>
                          <a:spcPts val="1375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capabilities.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4712">
                <a:tc>
                  <a:txBody>
                    <a:bodyPr/>
                    <a:lstStyle/>
                    <a:p>
                      <a:pPr marL="69850" marR="15113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Real-Time Budget Adjustments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6731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Limited</a:t>
                      </a:r>
                      <a:r>
                        <a:rPr lang="en-US" sz="700" spc="-11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ability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to</a:t>
                      </a:r>
                      <a:r>
                        <a:rPr lang="en-US" sz="700" spc="-5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process </a:t>
                      </a:r>
                      <a:r>
                        <a:rPr lang="en-US" sz="700" spc="-4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real-time</a:t>
                      </a:r>
                      <a:r>
                        <a:rPr lang="en-US" sz="700" spc="-12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4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data;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relies on pre- </a:t>
                      </a: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trained models.</a:t>
                      </a:r>
                      <a:endParaRPr lang="en-US" sz="7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14478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Handles structured real-time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data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</a:t>
                      </a:r>
                      <a:r>
                        <a:rPr lang="en-US" sz="700" spc="-7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quick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adjustments.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Provides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real- time</a:t>
                      </a:r>
                      <a:r>
                        <a:rPr lang="en-US" sz="700" spc="-8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budget updates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based on</a:t>
                      </a:r>
                      <a:r>
                        <a:rPr lang="en-US" sz="700" spc="-5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market trends</a:t>
                      </a:r>
                      <a:r>
                        <a:rPr lang="en-US" sz="700" spc="-8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internal</a:t>
                      </a:r>
                      <a:r>
                        <a:rPr lang="en-US" sz="700" spc="-5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data.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8636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Processes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data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streams dynamically for</a:t>
                      </a:r>
                      <a:r>
                        <a:rPr lang="en-US" sz="700" spc="-14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immediate budget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modifications.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11874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Not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applicable;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not</a:t>
                      </a:r>
                      <a:r>
                        <a:rPr lang="en-US" sz="700" spc="-5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designed for</a:t>
                      </a:r>
                      <a:r>
                        <a:rPr lang="en-US" sz="700" spc="-1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management.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8953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Ensures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ethical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real- time</a:t>
                      </a:r>
                      <a:r>
                        <a:rPr lang="en-US" sz="700" spc="-8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budget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updates</a:t>
                      </a:r>
                      <a:r>
                        <a:rPr lang="en-US" sz="700" spc="-13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compliance checks.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8953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Supports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real-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time</a:t>
                      </a:r>
                      <a:r>
                        <a:rPr lang="en-US" sz="700" spc="-8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budget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adjustments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 a focus on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reliability.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16192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Gemini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Grok lead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real-time budget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adjustments,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</a:t>
                      </a:r>
                      <a:r>
                        <a:rPr lang="en-US" sz="700" spc="-5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Grok excelling</a:t>
                      </a:r>
                      <a:r>
                        <a:rPr lang="en-US" sz="700" spc="-1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</a:t>
                      </a:r>
                    </a:p>
                    <a:p>
                      <a:pPr marL="69850" marR="0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dynamic scenarios.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138">
                <a:tc>
                  <a:txBody>
                    <a:bodyPr/>
                    <a:lstStyle/>
                    <a:p>
                      <a:pPr marL="6985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Risk</a:t>
                      </a:r>
                      <a:r>
                        <a:rPr lang="en-US" sz="700" b="1" spc="-5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b="1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Analysis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9334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Identifies potential budgetary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risks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based</a:t>
                      </a:r>
                      <a:r>
                        <a:rPr lang="en-US" sz="700" spc="-11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on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historical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data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trends.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12700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Specializes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anomaly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detection</a:t>
                      </a:r>
                      <a:r>
                        <a:rPr lang="en-US" sz="700" spc="-13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</a:t>
                      </a:r>
                      <a:r>
                        <a:rPr lang="en-US" sz="700" spc="-5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risk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forecasting.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12065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Simulates various economic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conditions</a:t>
                      </a:r>
                      <a:r>
                        <a:rPr lang="en-US" sz="700" spc="-9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to assess</a:t>
                      </a:r>
                      <a:r>
                        <a:rPr lang="en-US" sz="700" spc="-9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</a:t>
                      </a:r>
                      <a:r>
                        <a:rPr lang="en-US" sz="7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mitigate</a:t>
                      </a:r>
                      <a:r>
                        <a:rPr lang="en-US" sz="700" spc="-12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risks.</a:t>
                      </a:r>
                      <a:endParaRPr lang="en-US" sz="7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14478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Processes real-time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data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to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identify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risks proactively.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6540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Not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applicable;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does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not</a:t>
                      </a:r>
                      <a:r>
                        <a:rPr lang="en-US" sz="700" spc="-1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focus on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risk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management.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12382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Prioritizes ethical consideration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 in risk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assessments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Provides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reliable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risk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assessment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insights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transparent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methodologie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  <a:p>
                      <a:pPr marL="69850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10604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DeepSeek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excels in risk analysis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due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to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its</a:t>
                      </a:r>
                      <a:r>
                        <a:rPr lang="en-US" sz="700" spc="-14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anomaly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detection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forecasting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  <a:p>
                      <a:pPr marL="69850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capabilities.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138">
                <a:tc>
                  <a:txBody>
                    <a:bodyPr/>
                    <a:lstStyle/>
                    <a:p>
                      <a:pPr marL="69850" marR="13716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Cost Optimization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Assists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optimizing budget allocations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based</a:t>
                      </a:r>
                      <a:r>
                        <a:rPr lang="en-US" sz="700" spc="-7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on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efficiency</a:t>
                      </a:r>
                      <a:r>
                        <a:rPr lang="en-US" sz="700" spc="-13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  <a:p>
                      <a:pPr marL="69215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need.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6477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Uses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deep data</a:t>
                      </a:r>
                      <a:r>
                        <a:rPr lang="en-US" sz="700" spc="-5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insights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to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recommend optimal budget distributions.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16129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Leverages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AI to</a:t>
                      </a:r>
                      <a:r>
                        <a:rPr lang="en-US" sz="700" spc="-5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enhance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cost-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effectiveness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through strategic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  <a:p>
                      <a:pPr marL="68580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allocation.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8953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Automates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cost</a:t>
                      </a:r>
                      <a:r>
                        <a:rPr lang="en-US" sz="700" spc="-5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analysis and</a:t>
                      </a:r>
                      <a:r>
                        <a:rPr lang="en-US" sz="700" spc="-7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budget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redistribution based</a:t>
                      </a:r>
                      <a:r>
                        <a:rPr lang="en-US" sz="700" spc="-11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on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real-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time</a:t>
                      </a:r>
                      <a:r>
                        <a:rPr lang="en-US" sz="700" spc="-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changes.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8953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Not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applicable; not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designed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</a:t>
                      </a:r>
                      <a:r>
                        <a:rPr lang="en-US" sz="700" spc="-1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applications.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21272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Ensures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ethical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safe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cost-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optimization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strategies.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Focuses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on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maximizing budget </a:t>
                      </a:r>
                      <a:r>
                        <a:rPr lang="en-US" sz="700" spc="-4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efficiency</a:t>
                      </a:r>
                      <a:r>
                        <a:rPr lang="en-US" sz="700" spc="-14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4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reliable financial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  <a:p>
                      <a:pPr marL="69850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planning.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9588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Gemini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DeepSeek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provide</a:t>
                      </a:r>
                      <a:r>
                        <a:rPr lang="en-US" sz="700" spc="-1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the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most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effective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cost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optimization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  <a:p>
                      <a:pPr marL="69850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strategies.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0458">
                <a:tc>
                  <a:txBody>
                    <a:bodyPr/>
                    <a:lstStyle/>
                    <a:p>
                      <a:pPr marL="69850" marR="6921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Integration </a:t>
                      </a:r>
                      <a:r>
                        <a:rPr lang="en-US" sz="700" b="1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</a:t>
                      </a:r>
                      <a:r>
                        <a:rPr lang="en-US" sz="700" b="1" spc="-1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b="1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</a:t>
                      </a:r>
                      <a:r>
                        <a:rPr lang="en-US" sz="700" b="1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Tools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6223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Integrates</a:t>
                      </a:r>
                      <a:r>
                        <a:rPr lang="en-US" sz="700" spc="-12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basic</a:t>
                      </a:r>
                      <a:r>
                        <a:rPr lang="en-US" sz="700" spc="-11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tools but may </a:t>
                      </a: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require customization</a:t>
                      </a:r>
                      <a:endParaRPr lang="en-US" sz="7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  <a:p>
                      <a:pPr marL="69215" marR="0"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.</a:t>
                      </a:r>
                      <a:endParaRPr lang="en-US" sz="7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14922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Offers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seamless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API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integrations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</a:t>
                      </a:r>
                      <a:r>
                        <a:rPr lang="en-US" sz="700" spc="-11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enterprise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applications.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11811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Supports enterprise- </a:t>
                      </a:r>
                      <a:r>
                        <a:rPr lang="en-US" sz="700" spc="-2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level</a:t>
                      </a:r>
                      <a:r>
                        <a:rPr lang="en-US" sz="700" spc="-12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platforms</a:t>
                      </a:r>
                      <a:r>
                        <a:rPr lang="en-US" sz="700" spc="-12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</a:t>
                      </a: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cloud-based tools.</a:t>
                      </a:r>
                      <a:endParaRPr lang="en-US" sz="7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12573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Designed</a:t>
                      </a:r>
                      <a:r>
                        <a:rPr lang="en-US" sz="700" spc="-7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 </a:t>
                      </a: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integration </a:t>
                      </a:r>
                      <a:r>
                        <a:rPr lang="en-US" sz="700" spc="-4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</a:t>
                      </a:r>
                      <a:r>
                        <a:rPr lang="en-US" sz="700" spc="-10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4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real-time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</a:t>
                      </a:r>
                      <a:r>
                        <a:rPr lang="en-US" sz="700" spc="-9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dirty="0" err="1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IoT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systems.</a:t>
                      </a:r>
                      <a:endParaRPr lang="en-US" sz="7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6096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Best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suited</a:t>
                      </a:r>
                      <a:r>
                        <a:rPr lang="en-US" sz="700" spc="-13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Microsoft ecosystem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</a:t>
                      </a:r>
                      <a:r>
                        <a:rPr lang="en-US" sz="700" spc="-12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2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tools.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13271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Ensures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safe and</a:t>
                      </a:r>
                      <a:r>
                        <a:rPr lang="en-US" sz="700" spc="-7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ethical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integration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business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systems.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10414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Focuses</a:t>
                      </a:r>
                      <a:r>
                        <a:rPr lang="en-US" sz="700" spc="-9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on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interoperabilit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y</a:t>
                      </a:r>
                      <a:r>
                        <a:rPr lang="en-US" sz="700" spc="-1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</a:t>
                      </a:r>
                      <a:r>
                        <a:rPr lang="en-US" sz="700" spc="-105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various </a:t>
                      </a:r>
                      <a:r>
                        <a:rPr lang="en-US" sz="7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software.</a:t>
                      </a:r>
                      <a:endParaRPr lang="en-US" sz="7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26416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Gemini</a:t>
                      </a:r>
                      <a:r>
                        <a:rPr lang="en-US" sz="700" spc="-12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</a:t>
                      </a:r>
                      <a:r>
                        <a:rPr lang="en-US" sz="700" spc="-10" dirty="0" err="1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DeepSeek</a:t>
                      </a: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lead</a:t>
                      </a:r>
                      <a:r>
                        <a:rPr lang="en-US" sz="700" spc="-1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 </a:t>
                      </a: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integration </a:t>
                      </a:r>
                      <a:r>
                        <a:rPr lang="en-US" sz="700" spc="-2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capabilities with </a:t>
                      </a: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enterprise</a:t>
                      </a:r>
                      <a:endParaRPr lang="en-US" sz="7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  <a:p>
                      <a:pPr marL="69850" marR="0">
                        <a:lnSpc>
                          <a:spcPts val="1375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7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</a:t>
                      </a:r>
                      <a:r>
                        <a:rPr lang="en-US" sz="700" spc="-6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7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tools.</a:t>
                      </a:r>
                      <a:endParaRPr lang="en-US" sz="7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74595"/>
              </p:ext>
            </p:extLst>
          </p:nvPr>
        </p:nvGraphicFramePr>
        <p:xfrm>
          <a:off x="37531" y="6019800"/>
          <a:ext cx="8991599" cy="94589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00013"/>
                <a:gridCol w="1000013"/>
                <a:gridCol w="1000013"/>
                <a:gridCol w="1000013"/>
                <a:gridCol w="999445"/>
                <a:gridCol w="999445"/>
                <a:gridCol w="999445"/>
                <a:gridCol w="999445"/>
                <a:gridCol w="993767"/>
              </a:tblGrid>
              <a:tr h="685800">
                <a:tc>
                  <a:txBody>
                    <a:bodyPr/>
                    <a:lstStyle/>
                    <a:p>
                      <a:pPr marL="69850" marR="15875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Compliance </a:t>
                      </a:r>
                      <a:r>
                        <a:rPr lang="en-US" sz="800" b="1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</a:t>
                      </a:r>
                      <a:r>
                        <a:rPr lang="en-US" sz="800" b="1" spc="-16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b="1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Ethical </a:t>
                      </a:r>
                      <a:r>
                        <a:rPr lang="en-US" sz="800" b="1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Budgeting</a:t>
                      </a:r>
                      <a:endParaRPr lang="en-US" sz="8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11239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Follows ethical budgeting </a:t>
                      </a:r>
                      <a:r>
                        <a:rPr lang="en-US" sz="800" spc="-2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principles</a:t>
                      </a:r>
                      <a:r>
                        <a:rPr lang="en-US" sz="800" spc="-12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spc="-2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but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may</a:t>
                      </a:r>
                      <a:r>
                        <a:rPr lang="en-US" sz="800" spc="-6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require </a:t>
                      </a: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manual oversight</a:t>
                      </a:r>
                      <a:endParaRPr lang="en-US" sz="8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spc="-1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Ensures compliance through advanced financial analysis </a:t>
                      </a:r>
                      <a:r>
                        <a:rPr lang="en-US" sz="800" spc="-3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frameworks.</a:t>
                      </a:r>
                      <a:endParaRPr lang="en-US" sz="80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9652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Adheres</a:t>
                      </a:r>
                      <a:r>
                        <a:rPr lang="en-US" sz="800" spc="-9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to </a:t>
                      </a:r>
                      <a:r>
                        <a:rPr lang="en-US" sz="8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strict</a:t>
                      </a:r>
                      <a:r>
                        <a:rPr lang="en-US" sz="800" spc="-1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financial </a:t>
                      </a: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regulations with</a:t>
                      </a:r>
                      <a:r>
                        <a:rPr lang="en-US" sz="800" spc="-10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AI-driven compliance checks.</a:t>
                      </a:r>
                      <a:endParaRPr lang="en-US" sz="8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8953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Provides compliance support</a:t>
                      </a:r>
                      <a:r>
                        <a:rPr lang="en-US" sz="800" spc="-11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but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may</a:t>
                      </a:r>
                      <a:r>
                        <a:rPr lang="en-US" sz="800" spc="-1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lack </a:t>
                      </a: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refined financial ethics handling.</a:t>
                      </a:r>
                      <a:endParaRPr lang="en-US" sz="8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6540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spc="-2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Not </a:t>
                      </a: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applicable;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does</a:t>
                      </a:r>
                      <a:r>
                        <a:rPr lang="en-US" sz="800" spc="-12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not</a:t>
                      </a:r>
                      <a:r>
                        <a:rPr lang="en-US" sz="800" spc="-1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focus </a:t>
                      </a:r>
                      <a:r>
                        <a:rPr lang="en-US" sz="8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on </a:t>
                      </a: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compliance.</a:t>
                      </a:r>
                      <a:endParaRPr lang="en-US" sz="8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marR="6159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Prioritizes</a:t>
                      </a:r>
                      <a:r>
                        <a:rPr lang="en-US" sz="800" spc="-12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safe </a:t>
                      </a:r>
                      <a:r>
                        <a:rPr lang="en-US" sz="800" spc="-2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</a:t>
                      </a: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transparent financial compliance.</a:t>
                      </a:r>
                      <a:endParaRPr lang="en-US" sz="8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8953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Ensures ethical financial management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with a focus on</a:t>
                      </a:r>
                      <a:r>
                        <a:rPr lang="en-US" sz="800" spc="-5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corporate </a:t>
                      </a:r>
                      <a:r>
                        <a:rPr lang="en-US" sz="800" spc="-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responsibility.</a:t>
                      </a:r>
                      <a:endParaRPr lang="en-US" sz="8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0" marR="55245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Claude</a:t>
                      </a:r>
                      <a:r>
                        <a:rPr lang="en-US" sz="800" spc="-13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 Gemini</a:t>
                      </a:r>
                      <a:r>
                        <a:rPr lang="en-US" sz="800" spc="-9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are best</a:t>
                      </a:r>
                      <a:r>
                        <a:rPr lang="en-US" sz="800" spc="-5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for </a:t>
                      </a:r>
                      <a:r>
                        <a:rPr lang="en-US" sz="800" spc="-1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compliance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and</a:t>
                      </a:r>
                      <a:r>
                        <a:rPr lang="en-US" sz="800" spc="-7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ethical budgeting</a:t>
                      </a:r>
                      <a:r>
                        <a:rPr lang="en-US" sz="800" spc="-12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due to their focus on</a:t>
                      </a:r>
                      <a:r>
                        <a:rPr lang="en-US" sz="800" spc="-10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lang="en-US" sz="800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responsible</a:t>
                      </a:r>
                    </a:p>
                    <a:p>
                      <a:pPr marL="69850" marR="0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spc="-25" dirty="0">
                          <a:effectLst/>
                          <a:latin typeface="Trebuchet MS"/>
                          <a:ea typeface="Trebuchet MS"/>
                          <a:cs typeface="Trebuchet MS"/>
                        </a:rPr>
                        <a:t>AI.</a:t>
                      </a:r>
                      <a:endParaRPr lang="en-US" sz="800" dirty="0">
                        <a:effectLst/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240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777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rebuchet MS" pitchFamily="34" charset="0"/>
                <a:cs typeface="Trebuchet MS" pitchFamily="34" charset="0"/>
              </a:rPr>
              <a:t>Generative Ai Budget Allocation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rebuchet MS" pitchFamily="34" charset="0"/>
                <a:cs typeface="Trebuchet MS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rebuchet MS" pitchFamily="34" charset="0"/>
                <a:cs typeface="Trebuchet MS" pitchFamily="34" charset="0"/>
              </a:rPr>
            </a:b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rebuchet MS" pitchFamily="34" charset="0"/>
                <a:cs typeface="Trebuchet MS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rebuchet MS" pitchFamily="34" charset="0"/>
                <a:cs typeface="Trebuchet MS" pitchFamily="34" charset="0"/>
              </a:rPr>
            </a:b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51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986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8458200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52651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00200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-31846"/>
            <a:ext cx="7244687" cy="6889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202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15D6B5-B6E9-42DA-5E00-3EE876C6A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958"/>
            <a:ext cx="2324482" cy="665480"/>
          </a:xfrm>
        </p:spPr>
        <p:txBody>
          <a:bodyPr wrap="square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kumimoji="0" lang="en-US" sz="2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. </a:t>
            </a:r>
            <a:r>
              <a:rPr kumimoji="0" lang="en-US" sz="2900" b="1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</a:rPr>
              <a:t>Methodology</a:t>
            </a:r>
            <a:endParaRPr lang="en-US" sz="29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9E63DC23-362F-A12E-9548-EFCC4946C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12" name="Text Placeholder 2">
            <a:extLst>
              <a:ext uri="{FF2B5EF4-FFF2-40B4-BE49-F238E27FC236}">
                <a16:creationId xmlns="" xmlns:a16="http://schemas.microsoft.com/office/drawing/2014/main" id="{EC71E98B-AC97-0E0F-8DDC-A2A434AF80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1400426"/>
              </p:ext>
            </p:extLst>
          </p:nvPr>
        </p:nvGraphicFramePr>
        <p:xfrm>
          <a:off x="26720" y="457200"/>
          <a:ext cx="9269681" cy="617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175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8687" y="1237643"/>
            <a:ext cx="2577941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Calibri"/>
                <a:cs typeface="Calibri"/>
              </a:rPr>
              <a:t>Thank</a:t>
            </a:r>
            <a:r>
              <a:rPr sz="6000" spc="-190" dirty="0">
                <a:latin typeface="Calibri"/>
                <a:cs typeface="Calibri"/>
              </a:rPr>
              <a:t> </a:t>
            </a:r>
            <a:r>
              <a:rPr sz="6000" spc="-120" dirty="0">
                <a:latin typeface="Calibri"/>
                <a:cs typeface="Calibri"/>
              </a:rPr>
              <a:t>You!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35302" y="6445099"/>
            <a:ext cx="121920" cy="3366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 flipV="1">
            <a:off x="5200652" y="6445102"/>
            <a:ext cx="56140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4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140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4855</TotalTime>
  <Words>1036</Words>
  <Application>Microsoft Office PowerPoint</Application>
  <PresentationFormat>On-screen Show (4:3)</PresentationFormat>
  <Paragraphs>166</Paragraphs>
  <Slides>38</Slides>
  <Notes>4</Notes>
  <HiddenSlides>5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3 Tier Architecture of Indian Healthcare System</vt:lpstr>
      <vt:lpstr>PowerPoint Presentation</vt:lpstr>
      <vt:lpstr>Probable use case for GEN-AI in Indian healthcare Ministry</vt:lpstr>
      <vt:lpstr>USE Cases</vt:lpstr>
      <vt:lpstr>Functions of Indian Healthcare Ministry</vt:lpstr>
      <vt:lpstr>Budget Allocation Model</vt:lpstr>
      <vt:lpstr>PowerPoint Presentation</vt:lpstr>
      <vt:lpstr>SCM-MODEL</vt:lpstr>
      <vt:lpstr>Budget Allocation with GEN AI</vt:lpstr>
      <vt:lpstr>Gen AI IN INDIAN healthcare </vt:lpstr>
      <vt:lpstr>Various Stackholders for data analysis</vt:lpstr>
      <vt:lpstr>Gen AI in budget Management </vt:lpstr>
      <vt:lpstr>Gen AI in budget Prediction for distribution </vt:lpstr>
      <vt:lpstr> </vt:lpstr>
      <vt:lpstr>Epidemic and health management-model</vt:lpstr>
      <vt:lpstr>Future prediction for epidemic and health management</vt:lpstr>
      <vt:lpstr>PowerPoint Presentation</vt:lpstr>
      <vt:lpstr>PowerPoint Presentation</vt:lpstr>
      <vt:lpstr>Resource Allocation</vt:lpstr>
      <vt:lpstr>External International Submit</vt:lpstr>
      <vt:lpstr>Healthcare Diplomacy</vt:lpstr>
      <vt:lpstr>PowerPoint Presentation</vt:lpstr>
      <vt:lpstr>Educational &amp; marketing model</vt:lpstr>
      <vt:lpstr> </vt:lpstr>
      <vt:lpstr>Insurance</vt:lpstr>
      <vt:lpstr>Insurance -model</vt:lpstr>
      <vt:lpstr>Probable Use cases</vt:lpstr>
      <vt:lpstr>Training and implementation cost State wise</vt:lpstr>
      <vt:lpstr>Estimated Budget 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 Methodology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ABC</cp:lastModifiedBy>
  <cp:revision>90</cp:revision>
  <dcterms:created xsi:type="dcterms:W3CDTF">2006-08-16T00:00:00Z</dcterms:created>
  <dcterms:modified xsi:type="dcterms:W3CDTF">2025-12-10T12:15:36Z</dcterms:modified>
</cp:coreProperties>
</file>